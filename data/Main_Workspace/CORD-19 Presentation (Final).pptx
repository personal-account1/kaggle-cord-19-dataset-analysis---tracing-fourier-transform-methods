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6858000" cy="9144000"/>
  <p:embeddedFontLst>
    <p:embeddedFont>
      <p:font typeface="Abel"/>
      <p:regular r:id="rId19"/>
    </p:embeddedFont>
    <p:embeddedFont>
      <p:font typeface="Encode Sans Semi Condensed"/>
      <p:regular r:id="rId20"/>
      <p:bold r:id="rId21"/>
    </p:embeddedFont>
    <p:embeddedFont>
      <p:font typeface="Encode Sans Semi Condensed Light"/>
      <p:regular r:id="rId22"/>
      <p:bold r:id="rId23"/>
    </p:embeddedFont>
    <p:embeddedFont>
      <p:font typeface="Encode Sans Semi Condensed SemiBold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jghpFTDAqmK2zAh7r/4CTLHe7k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ncodeSansSemiCondensed-regular.fntdata"/><Relationship Id="rId22" Type="http://schemas.openxmlformats.org/officeDocument/2006/relationships/font" Target="fonts/EncodeSansSemiCondensedLight-regular.fntdata"/><Relationship Id="rId21" Type="http://schemas.openxmlformats.org/officeDocument/2006/relationships/font" Target="fonts/EncodeSansSemiCondensed-bold.fntdata"/><Relationship Id="rId24" Type="http://schemas.openxmlformats.org/officeDocument/2006/relationships/font" Target="fonts/EncodeSansSemiCondensedSemiBold-regular.fntdata"/><Relationship Id="rId23" Type="http://schemas.openxmlformats.org/officeDocument/2006/relationships/font" Target="fonts/EncodeSansSemiCondensedLight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font" Target="fonts/EncodeSansSemiCondensedSemiBold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Abel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6"/>
          <p:cNvPicPr preferRelativeResize="0"/>
          <p:nvPr/>
        </p:nvPicPr>
        <p:blipFill rotWithShape="1">
          <a:blip r:embed="rId3">
            <a:alphaModFix/>
          </a:blip>
          <a:srcRect b="892" l="0" r="0" t="893"/>
          <a:stretch/>
        </p:blipFill>
        <p:spPr>
          <a:xfrm>
            <a:off x="8159800" y="1226525"/>
            <a:ext cx="559400" cy="55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6"/>
          <p:cNvPicPr preferRelativeResize="0"/>
          <p:nvPr/>
        </p:nvPicPr>
        <p:blipFill rotWithShape="1">
          <a:blip r:embed="rId4">
            <a:alphaModFix/>
          </a:blip>
          <a:srcRect b="892" l="0" r="0" t="893"/>
          <a:stretch/>
        </p:blipFill>
        <p:spPr>
          <a:xfrm>
            <a:off x="5840740" y="3088850"/>
            <a:ext cx="868960" cy="85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6"/>
          <p:cNvSpPr/>
          <p:nvPr/>
        </p:nvSpPr>
        <p:spPr>
          <a:xfrm>
            <a:off x="0" y="1593450"/>
            <a:ext cx="9144000" cy="1956600"/>
          </a:xfrm>
          <a:prstGeom prst="rect">
            <a:avLst/>
          </a:prstGeom>
          <a:solidFill>
            <a:srgbClr val="00103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6"/>
          <p:cNvSpPr txBox="1"/>
          <p:nvPr>
            <p:ph type="ctrTitle"/>
          </p:nvPr>
        </p:nvSpPr>
        <p:spPr>
          <a:xfrm>
            <a:off x="514800" y="2010200"/>
            <a:ext cx="6390300" cy="1141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4" name="Google Shape;14;p16"/>
          <p:cNvSpPr/>
          <p:nvPr/>
        </p:nvSpPr>
        <p:spPr>
          <a:xfrm>
            <a:off x="0" y="1593450"/>
            <a:ext cx="81600" cy="195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5;p16"/>
          <p:cNvPicPr preferRelativeResize="0"/>
          <p:nvPr/>
        </p:nvPicPr>
        <p:blipFill rotWithShape="1">
          <a:blip r:embed="rId4">
            <a:alphaModFix/>
          </a:blip>
          <a:srcRect b="0" l="0" r="0" t="32908"/>
          <a:stretch/>
        </p:blipFill>
        <p:spPr>
          <a:xfrm>
            <a:off x="4559800" y="0"/>
            <a:ext cx="2083750" cy="1403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6"/>
          <p:cNvPicPr preferRelativeResize="0"/>
          <p:nvPr/>
        </p:nvPicPr>
        <p:blipFill rotWithShape="1">
          <a:blip r:embed="rId5">
            <a:alphaModFix/>
          </a:blip>
          <a:srcRect b="989" l="0" r="0" t="980"/>
          <a:stretch/>
        </p:blipFill>
        <p:spPr>
          <a:xfrm>
            <a:off x="7328456" y="3151696"/>
            <a:ext cx="1313988" cy="1293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6"/>
          <p:cNvPicPr preferRelativeResize="0"/>
          <p:nvPr/>
        </p:nvPicPr>
        <p:blipFill rotWithShape="1">
          <a:blip r:embed="rId5">
            <a:alphaModFix/>
          </a:blip>
          <a:srcRect b="989" l="0" r="0" t="980"/>
          <a:stretch/>
        </p:blipFill>
        <p:spPr>
          <a:xfrm>
            <a:off x="6498100" y="1154949"/>
            <a:ext cx="868950" cy="855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6"/>
          <p:cNvPicPr preferRelativeResize="0"/>
          <p:nvPr/>
        </p:nvPicPr>
        <p:blipFill rotWithShape="1">
          <a:blip r:embed="rId3">
            <a:alphaModFix/>
          </a:blip>
          <a:srcRect b="0" l="0" r="30044" t="0"/>
          <a:stretch/>
        </p:blipFill>
        <p:spPr>
          <a:xfrm>
            <a:off x="8642450" y="2072900"/>
            <a:ext cx="501549" cy="71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6"/>
          <p:cNvPicPr preferRelativeResize="0"/>
          <p:nvPr/>
        </p:nvPicPr>
        <p:blipFill rotWithShape="1">
          <a:blip r:embed="rId4">
            <a:alphaModFix/>
          </a:blip>
          <a:srcRect b="57406" l="0" r="0" t="0"/>
          <a:stretch/>
        </p:blipFill>
        <p:spPr>
          <a:xfrm>
            <a:off x="3900875" y="4430100"/>
            <a:ext cx="1680350" cy="71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7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" name="Google Shape;22;p17"/>
          <p:cNvPicPr preferRelativeResize="0"/>
          <p:nvPr/>
        </p:nvPicPr>
        <p:blipFill rotWithShape="1">
          <a:blip r:embed="rId3">
            <a:alphaModFix/>
          </a:blip>
          <a:srcRect b="669" l="0" r="0" t="669"/>
          <a:stretch/>
        </p:blipFill>
        <p:spPr>
          <a:xfrm>
            <a:off x="8280475" y="2416469"/>
            <a:ext cx="595150" cy="589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7"/>
          <p:cNvPicPr preferRelativeResize="0"/>
          <p:nvPr/>
        </p:nvPicPr>
        <p:blipFill rotWithShape="1">
          <a:blip r:embed="rId4">
            <a:alphaModFix/>
          </a:blip>
          <a:srcRect b="660" l="0" r="0" t="670"/>
          <a:stretch/>
        </p:blipFill>
        <p:spPr>
          <a:xfrm>
            <a:off x="7027447" y="232387"/>
            <a:ext cx="595150" cy="589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7"/>
          <p:cNvPicPr preferRelativeResize="0"/>
          <p:nvPr/>
        </p:nvPicPr>
        <p:blipFill rotWithShape="1">
          <a:blip r:embed="rId4">
            <a:alphaModFix/>
          </a:blip>
          <a:srcRect b="660" l="0" r="0" t="670"/>
          <a:stretch/>
        </p:blipFill>
        <p:spPr>
          <a:xfrm>
            <a:off x="371105" y="3969625"/>
            <a:ext cx="929773" cy="92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17"/>
          <p:cNvPicPr preferRelativeResize="0"/>
          <p:nvPr/>
        </p:nvPicPr>
        <p:blipFill rotWithShape="1">
          <a:blip r:embed="rId3">
            <a:alphaModFix/>
          </a:blip>
          <a:srcRect b="0" l="0" r="0" t="31866"/>
          <a:stretch/>
        </p:blipFill>
        <p:spPr>
          <a:xfrm>
            <a:off x="315900" y="0"/>
            <a:ext cx="1732351" cy="118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17"/>
          <p:cNvPicPr preferRelativeResize="0"/>
          <p:nvPr/>
        </p:nvPicPr>
        <p:blipFill rotWithShape="1">
          <a:blip r:embed="rId5">
            <a:alphaModFix/>
          </a:blip>
          <a:srcRect b="989" l="0" r="0" t="980"/>
          <a:stretch/>
        </p:blipFill>
        <p:spPr>
          <a:xfrm>
            <a:off x="281325" y="1351150"/>
            <a:ext cx="710101" cy="698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17"/>
          <p:cNvPicPr preferRelativeResize="0"/>
          <p:nvPr/>
        </p:nvPicPr>
        <p:blipFill rotWithShape="1">
          <a:blip r:embed="rId5">
            <a:alphaModFix/>
          </a:blip>
          <a:srcRect b="989" l="0" r="0" t="980"/>
          <a:stretch/>
        </p:blipFill>
        <p:spPr>
          <a:xfrm>
            <a:off x="8033925" y="3686350"/>
            <a:ext cx="841700" cy="828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17"/>
          <p:cNvPicPr preferRelativeResize="0"/>
          <p:nvPr/>
        </p:nvPicPr>
        <p:blipFill rotWithShape="1">
          <a:blip r:embed="rId3">
            <a:alphaModFix/>
          </a:blip>
          <a:srcRect b="0" l="0" r="27807" t="0"/>
          <a:stretch/>
        </p:blipFill>
        <p:spPr>
          <a:xfrm>
            <a:off x="7910125" y="182975"/>
            <a:ext cx="1233875" cy="171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7"/>
          <p:cNvPicPr preferRelativeResize="0"/>
          <p:nvPr/>
        </p:nvPicPr>
        <p:blipFill rotWithShape="1">
          <a:blip r:embed="rId3">
            <a:alphaModFix/>
          </a:blip>
          <a:srcRect b="0" l="28340" r="0" t="0"/>
          <a:stretch/>
        </p:blipFill>
        <p:spPr>
          <a:xfrm>
            <a:off x="0" y="2680300"/>
            <a:ext cx="315900" cy="44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small">
  <p:cSld name="TITLE_ONLY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18"/>
          <p:cNvGrpSpPr/>
          <p:nvPr/>
        </p:nvGrpSpPr>
        <p:grpSpPr>
          <a:xfrm rot="5400000">
            <a:off x="4284135" y="-1236127"/>
            <a:ext cx="575700" cy="3047954"/>
            <a:chOff x="0" y="809153"/>
            <a:chExt cx="575700" cy="665100"/>
          </a:xfrm>
        </p:grpSpPr>
        <p:sp>
          <p:nvSpPr>
            <p:cNvPr id="32" name="Google Shape;32;p18"/>
            <p:cNvSpPr/>
            <p:nvPr/>
          </p:nvSpPr>
          <p:spPr>
            <a:xfrm>
              <a:off x="0" y="809153"/>
              <a:ext cx="575700" cy="665100"/>
            </a:xfrm>
            <a:prstGeom prst="rect">
              <a:avLst/>
            </a:prstGeom>
            <a:solidFill>
              <a:srgbClr val="001033">
                <a:alpha val="3294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18"/>
            <p:cNvSpPr/>
            <p:nvPr/>
          </p:nvSpPr>
          <p:spPr>
            <a:xfrm>
              <a:off x="0" y="809153"/>
              <a:ext cx="81600" cy="665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p18"/>
          <p:cNvSpPr txBox="1"/>
          <p:nvPr>
            <p:ph type="title"/>
          </p:nvPr>
        </p:nvSpPr>
        <p:spPr>
          <a:xfrm>
            <a:off x="3048003" y="90300"/>
            <a:ext cx="3048000" cy="4854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" name="Google Shape;36;p18"/>
          <p:cNvPicPr preferRelativeResize="0"/>
          <p:nvPr/>
        </p:nvPicPr>
        <p:blipFill rotWithShape="1">
          <a:blip r:embed="rId3">
            <a:alphaModFix/>
          </a:blip>
          <a:srcRect b="669" l="0" r="0" t="669"/>
          <a:stretch/>
        </p:blipFill>
        <p:spPr>
          <a:xfrm>
            <a:off x="8280475" y="2416469"/>
            <a:ext cx="595150" cy="589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18"/>
          <p:cNvPicPr preferRelativeResize="0"/>
          <p:nvPr/>
        </p:nvPicPr>
        <p:blipFill rotWithShape="1">
          <a:blip r:embed="rId4">
            <a:alphaModFix/>
          </a:blip>
          <a:srcRect b="660" l="0" r="0" t="670"/>
          <a:stretch/>
        </p:blipFill>
        <p:spPr>
          <a:xfrm>
            <a:off x="7027447" y="232387"/>
            <a:ext cx="595150" cy="589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18"/>
          <p:cNvPicPr preferRelativeResize="0"/>
          <p:nvPr/>
        </p:nvPicPr>
        <p:blipFill rotWithShape="1">
          <a:blip r:embed="rId4">
            <a:alphaModFix/>
          </a:blip>
          <a:srcRect b="660" l="0" r="0" t="670"/>
          <a:stretch/>
        </p:blipFill>
        <p:spPr>
          <a:xfrm>
            <a:off x="371105" y="3969625"/>
            <a:ext cx="929773" cy="92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18"/>
          <p:cNvPicPr preferRelativeResize="0"/>
          <p:nvPr/>
        </p:nvPicPr>
        <p:blipFill rotWithShape="1">
          <a:blip r:embed="rId3">
            <a:alphaModFix/>
          </a:blip>
          <a:srcRect b="0" l="0" r="0" t="31866"/>
          <a:stretch/>
        </p:blipFill>
        <p:spPr>
          <a:xfrm>
            <a:off x="315900" y="0"/>
            <a:ext cx="1732351" cy="118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18"/>
          <p:cNvPicPr preferRelativeResize="0"/>
          <p:nvPr/>
        </p:nvPicPr>
        <p:blipFill rotWithShape="1">
          <a:blip r:embed="rId5">
            <a:alphaModFix/>
          </a:blip>
          <a:srcRect b="989" l="0" r="0" t="980"/>
          <a:stretch/>
        </p:blipFill>
        <p:spPr>
          <a:xfrm>
            <a:off x="281325" y="1351150"/>
            <a:ext cx="710101" cy="698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18"/>
          <p:cNvPicPr preferRelativeResize="0"/>
          <p:nvPr/>
        </p:nvPicPr>
        <p:blipFill rotWithShape="1">
          <a:blip r:embed="rId5">
            <a:alphaModFix/>
          </a:blip>
          <a:srcRect b="989" l="0" r="0" t="980"/>
          <a:stretch/>
        </p:blipFill>
        <p:spPr>
          <a:xfrm>
            <a:off x="8033925" y="3686350"/>
            <a:ext cx="841700" cy="828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18"/>
          <p:cNvPicPr preferRelativeResize="0"/>
          <p:nvPr/>
        </p:nvPicPr>
        <p:blipFill rotWithShape="1">
          <a:blip r:embed="rId3">
            <a:alphaModFix/>
          </a:blip>
          <a:srcRect b="0" l="0" r="27807" t="0"/>
          <a:stretch/>
        </p:blipFill>
        <p:spPr>
          <a:xfrm>
            <a:off x="7910125" y="182975"/>
            <a:ext cx="1233875" cy="171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18"/>
          <p:cNvPicPr preferRelativeResize="0"/>
          <p:nvPr/>
        </p:nvPicPr>
        <p:blipFill rotWithShape="1">
          <a:blip r:embed="rId3">
            <a:alphaModFix/>
          </a:blip>
          <a:srcRect b="0" l="28340" r="0" t="0"/>
          <a:stretch/>
        </p:blipFill>
        <p:spPr>
          <a:xfrm>
            <a:off x="0" y="2680300"/>
            <a:ext cx="315900" cy="44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19"/>
          <p:cNvPicPr preferRelativeResize="0"/>
          <p:nvPr/>
        </p:nvPicPr>
        <p:blipFill rotWithShape="1">
          <a:blip r:embed="rId3">
            <a:alphaModFix/>
          </a:blip>
          <a:srcRect b="660" l="0" r="0" t="670"/>
          <a:stretch/>
        </p:blipFill>
        <p:spPr>
          <a:xfrm>
            <a:off x="7894561" y="4059551"/>
            <a:ext cx="725380" cy="71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19"/>
          <p:cNvPicPr preferRelativeResize="0"/>
          <p:nvPr/>
        </p:nvPicPr>
        <p:blipFill rotWithShape="1">
          <a:blip r:embed="rId4">
            <a:alphaModFix/>
          </a:blip>
          <a:srcRect b="892" l="0" r="0" t="893"/>
          <a:stretch/>
        </p:blipFill>
        <p:spPr>
          <a:xfrm>
            <a:off x="4843790" y="3138650"/>
            <a:ext cx="868960" cy="85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19"/>
          <p:cNvPicPr preferRelativeResize="0"/>
          <p:nvPr/>
        </p:nvPicPr>
        <p:blipFill rotWithShape="1">
          <a:blip r:embed="rId3">
            <a:alphaModFix/>
          </a:blip>
          <a:srcRect b="0" l="0" r="30044" t="0"/>
          <a:stretch/>
        </p:blipFill>
        <p:spPr>
          <a:xfrm>
            <a:off x="8642450" y="1370757"/>
            <a:ext cx="501549" cy="71985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9"/>
          <p:cNvSpPr/>
          <p:nvPr/>
        </p:nvSpPr>
        <p:spPr>
          <a:xfrm>
            <a:off x="0" y="1784975"/>
            <a:ext cx="9144000" cy="1573500"/>
          </a:xfrm>
          <a:prstGeom prst="rect">
            <a:avLst/>
          </a:prstGeom>
          <a:solidFill>
            <a:srgbClr val="00103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9"/>
          <p:cNvSpPr txBox="1"/>
          <p:nvPr>
            <p:ph type="ctrTitle"/>
          </p:nvPr>
        </p:nvSpPr>
        <p:spPr>
          <a:xfrm>
            <a:off x="514800" y="2025550"/>
            <a:ext cx="8114400" cy="6558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" name="Google Shape;50;p19"/>
          <p:cNvSpPr txBox="1"/>
          <p:nvPr>
            <p:ph idx="1" type="subTitle"/>
          </p:nvPr>
        </p:nvSpPr>
        <p:spPr>
          <a:xfrm>
            <a:off x="514800" y="2702092"/>
            <a:ext cx="8114400" cy="4158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51" name="Google Shape;51;p19"/>
          <p:cNvSpPr/>
          <p:nvPr/>
        </p:nvSpPr>
        <p:spPr>
          <a:xfrm>
            <a:off x="0" y="1784975"/>
            <a:ext cx="81600" cy="157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19"/>
          <p:cNvPicPr preferRelativeResize="0"/>
          <p:nvPr/>
        </p:nvPicPr>
        <p:blipFill rotWithShape="1">
          <a:blip r:embed="rId3">
            <a:alphaModFix/>
          </a:blip>
          <a:srcRect b="892" l="0" r="0" t="893"/>
          <a:stretch/>
        </p:blipFill>
        <p:spPr>
          <a:xfrm>
            <a:off x="8135275" y="254100"/>
            <a:ext cx="559400" cy="55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9"/>
          <p:cNvPicPr preferRelativeResize="0"/>
          <p:nvPr/>
        </p:nvPicPr>
        <p:blipFill rotWithShape="1">
          <a:blip r:embed="rId5">
            <a:alphaModFix/>
          </a:blip>
          <a:srcRect b="989" l="0" r="0" t="980"/>
          <a:stretch/>
        </p:blipFill>
        <p:spPr>
          <a:xfrm>
            <a:off x="5941581" y="711496"/>
            <a:ext cx="1313988" cy="1293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9"/>
          <p:cNvPicPr preferRelativeResize="0"/>
          <p:nvPr/>
        </p:nvPicPr>
        <p:blipFill rotWithShape="1">
          <a:blip r:embed="rId5">
            <a:alphaModFix/>
          </a:blip>
          <a:srcRect b="989" l="0" r="0" t="980"/>
          <a:stretch/>
        </p:blipFill>
        <p:spPr>
          <a:xfrm>
            <a:off x="7387100" y="3062074"/>
            <a:ext cx="936025" cy="92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9"/>
          <p:cNvPicPr preferRelativeResize="0"/>
          <p:nvPr/>
        </p:nvPicPr>
        <p:blipFill rotWithShape="1">
          <a:blip r:embed="rId4">
            <a:alphaModFix/>
          </a:blip>
          <a:srcRect b="44635" l="0" r="0" t="0"/>
          <a:stretch/>
        </p:blipFill>
        <p:spPr>
          <a:xfrm>
            <a:off x="5902900" y="4209475"/>
            <a:ext cx="1680350" cy="93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9"/>
          <p:cNvPicPr preferRelativeResize="0"/>
          <p:nvPr/>
        </p:nvPicPr>
        <p:blipFill rotWithShape="1">
          <a:blip r:embed="rId4">
            <a:alphaModFix/>
          </a:blip>
          <a:srcRect b="0" l="0" r="0" t="32908"/>
          <a:stretch/>
        </p:blipFill>
        <p:spPr>
          <a:xfrm>
            <a:off x="3629000" y="0"/>
            <a:ext cx="2083750" cy="1403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20"/>
          <p:cNvPicPr preferRelativeResize="0"/>
          <p:nvPr/>
        </p:nvPicPr>
        <p:blipFill rotWithShape="1">
          <a:blip r:embed="rId3">
            <a:alphaModFix/>
          </a:blip>
          <a:srcRect b="669" l="0" r="0" t="669"/>
          <a:stretch/>
        </p:blipFill>
        <p:spPr>
          <a:xfrm>
            <a:off x="8166075" y="2563569"/>
            <a:ext cx="595150" cy="589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20"/>
          <p:cNvPicPr preferRelativeResize="0"/>
          <p:nvPr/>
        </p:nvPicPr>
        <p:blipFill rotWithShape="1">
          <a:blip r:embed="rId4">
            <a:alphaModFix/>
          </a:blip>
          <a:srcRect b="660" l="0" r="0" t="670"/>
          <a:stretch/>
        </p:blipFill>
        <p:spPr>
          <a:xfrm>
            <a:off x="7027447" y="297762"/>
            <a:ext cx="595150" cy="589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20"/>
          <p:cNvPicPr preferRelativeResize="0"/>
          <p:nvPr/>
        </p:nvPicPr>
        <p:blipFill rotWithShape="1">
          <a:blip r:embed="rId4">
            <a:alphaModFix/>
          </a:blip>
          <a:srcRect b="660" l="0" r="0" t="670"/>
          <a:stretch/>
        </p:blipFill>
        <p:spPr>
          <a:xfrm>
            <a:off x="1033005" y="3887925"/>
            <a:ext cx="929773" cy="92102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0"/>
          <p:cNvSpPr/>
          <p:nvPr/>
        </p:nvSpPr>
        <p:spPr>
          <a:xfrm>
            <a:off x="665100" y="665100"/>
            <a:ext cx="7813800" cy="3813300"/>
          </a:xfrm>
          <a:prstGeom prst="roundRect">
            <a:avLst>
              <a:gd fmla="val 1630" name="adj"/>
            </a:avLst>
          </a:prstGeom>
          <a:solidFill>
            <a:srgbClr val="00103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0"/>
          <p:cNvSpPr txBox="1"/>
          <p:nvPr>
            <p:ph idx="1" type="body"/>
          </p:nvPr>
        </p:nvSpPr>
        <p:spPr>
          <a:xfrm>
            <a:off x="1291100" y="2161800"/>
            <a:ext cx="6561600" cy="8199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>
            <a:lvl1pPr indent="-431800" lvl="0" marL="45720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3200"/>
              <a:buChar char="▸"/>
              <a:defRPr sz="3200"/>
            </a:lvl1pPr>
            <a:lvl2pPr indent="-431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▹"/>
              <a:defRPr sz="3200"/>
            </a:lvl2pPr>
            <a:lvl3pPr indent="-431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▹"/>
              <a:defRPr sz="3200"/>
            </a:lvl3pPr>
            <a:lvl4pPr indent="-431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▹"/>
              <a:defRPr sz="3200"/>
            </a:lvl4pPr>
            <a:lvl5pPr indent="-431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▹"/>
              <a:defRPr sz="3200"/>
            </a:lvl5pPr>
            <a:lvl6pPr indent="-431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▹"/>
              <a:defRPr sz="3200"/>
            </a:lvl6pPr>
            <a:lvl7pPr indent="-431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▹"/>
              <a:defRPr sz="3200"/>
            </a:lvl7pPr>
            <a:lvl8pPr indent="-431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▹"/>
              <a:defRPr sz="3200"/>
            </a:lvl8pPr>
            <a:lvl9pPr indent="-431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9pPr>
          </a:lstStyle>
          <a:p/>
        </p:txBody>
      </p:sp>
      <p:sp>
        <p:nvSpPr>
          <p:cNvPr id="63" name="Google Shape;63;p20"/>
          <p:cNvSpPr txBox="1"/>
          <p:nvPr/>
        </p:nvSpPr>
        <p:spPr>
          <a:xfrm>
            <a:off x="3593400" y="419937"/>
            <a:ext cx="1957200" cy="6537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5400000" dist="28575">
              <a:srgbClr val="000000">
                <a:alpha val="23921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rPr>
              <a:t>“</a:t>
            </a:r>
            <a:endParaRPr b="1" i="0" sz="6000" u="none" cap="none" strike="noStrike">
              <a:solidFill>
                <a:schemeClr val="lt1"/>
              </a:solidFill>
              <a:latin typeface="Encode Sans Semi Condensed"/>
              <a:ea typeface="Encode Sans Semi Condensed"/>
              <a:cs typeface="Encode Sans Semi Condensed"/>
              <a:sym typeface="Encode Sans Semi Condensed"/>
            </a:endParaRPr>
          </a:p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20"/>
          <p:cNvPicPr preferRelativeResize="0"/>
          <p:nvPr/>
        </p:nvPicPr>
        <p:blipFill rotWithShape="1">
          <a:blip r:embed="rId3">
            <a:alphaModFix/>
          </a:blip>
          <a:srcRect b="0" l="0" r="0" t="31866"/>
          <a:stretch/>
        </p:blipFill>
        <p:spPr>
          <a:xfrm>
            <a:off x="1048650" y="0"/>
            <a:ext cx="1732351" cy="118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20"/>
          <p:cNvPicPr preferRelativeResize="0"/>
          <p:nvPr/>
        </p:nvPicPr>
        <p:blipFill rotWithShape="1">
          <a:blip r:embed="rId5">
            <a:alphaModFix/>
          </a:blip>
          <a:srcRect b="989" l="0" r="0" t="980"/>
          <a:stretch/>
        </p:blipFill>
        <p:spPr>
          <a:xfrm>
            <a:off x="281325" y="1351150"/>
            <a:ext cx="710101" cy="698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20"/>
          <p:cNvPicPr preferRelativeResize="0"/>
          <p:nvPr/>
        </p:nvPicPr>
        <p:blipFill rotWithShape="1">
          <a:blip r:embed="rId5">
            <a:alphaModFix/>
          </a:blip>
          <a:srcRect b="989" l="0" r="0" t="980"/>
          <a:stretch/>
        </p:blipFill>
        <p:spPr>
          <a:xfrm>
            <a:off x="7327875" y="3817675"/>
            <a:ext cx="1007150" cy="99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20"/>
          <p:cNvPicPr preferRelativeResize="0"/>
          <p:nvPr/>
        </p:nvPicPr>
        <p:blipFill rotWithShape="1">
          <a:blip r:embed="rId3">
            <a:alphaModFix/>
          </a:blip>
          <a:srcRect b="0" l="0" r="27807" t="0"/>
          <a:stretch/>
        </p:blipFill>
        <p:spPr>
          <a:xfrm>
            <a:off x="7910125" y="182975"/>
            <a:ext cx="1233875" cy="171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20"/>
          <p:cNvPicPr preferRelativeResize="0"/>
          <p:nvPr/>
        </p:nvPicPr>
        <p:blipFill rotWithShape="1">
          <a:blip r:embed="rId3">
            <a:alphaModFix/>
          </a:blip>
          <a:srcRect b="0" l="28340" r="0" t="0"/>
          <a:stretch/>
        </p:blipFill>
        <p:spPr>
          <a:xfrm>
            <a:off x="0" y="2680300"/>
            <a:ext cx="315900" cy="44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21"/>
          <p:cNvPicPr preferRelativeResize="0"/>
          <p:nvPr/>
        </p:nvPicPr>
        <p:blipFill rotWithShape="1">
          <a:blip r:embed="rId2">
            <a:alphaModFix/>
          </a:blip>
          <a:srcRect b="892" l="0" r="0" t="893"/>
          <a:stretch/>
        </p:blipFill>
        <p:spPr>
          <a:xfrm>
            <a:off x="8486650" y="532325"/>
            <a:ext cx="559400" cy="551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" name="Google Shape;72;p21"/>
          <p:cNvGrpSpPr/>
          <p:nvPr/>
        </p:nvGrpSpPr>
        <p:grpSpPr>
          <a:xfrm>
            <a:off x="0" y="809153"/>
            <a:ext cx="9144000" cy="665100"/>
            <a:chOff x="0" y="809153"/>
            <a:chExt cx="9144000" cy="665100"/>
          </a:xfrm>
        </p:grpSpPr>
        <p:sp>
          <p:nvSpPr>
            <p:cNvPr id="73" name="Google Shape;73;p21"/>
            <p:cNvSpPr/>
            <p:nvPr/>
          </p:nvSpPr>
          <p:spPr>
            <a:xfrm>
              <a:off x="0" y="809153"/>
              <a:ext cx="9144000" cy="665100"/>
            </a:xfrm>
            <a:prstGeom prst="rect">
              <a:avLst/>
            </a:prstGeom>
            <a:solidFill>
              <a:srgbClr val="001033">
                <a:alpha val="3294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21"/>
            <p:cNvSpPr/>
            <p:nvPr/>
          </p:nvSpPr>
          <p:spPr>
            <a:xfrm>
              <a:off x="0" y="809153"/>
              <a:ext cx="81600" cy="665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" name="Google Shape;75;p21"/>
          <p:cNvSpPr txBox="1"/>
          <p:nvPr>
            <p:ph type="title"/>
          </p:nvPr>
        </p:nvSpPr>
        <p:spPr>
          <a:xfrm>
            <a:off x="514800" y="809150"/>
            <a:ext cx="6373800" cy="6651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>
            <a:off x="514800" y="1582772"/>
            <a:ext cx="6373800" cy="28899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Char char="▸"/>
              <a:defRPr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▹"/>
              <a:defRPr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▹"/>
              <a:defRPr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▹"/>
              <a:defRPr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▹"/>
              <a:defRPr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▹"/>
              <a:defRPr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▹"/>
              <a:defRPr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▹"/>
              <a:defRPr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8" name="Google Shape;78;p21"/>
          <p:cNvPicPr preferRelativeResize="0"/>
          <p:nvPr/>
        </p:nvPicPr>
        <p:blipFill rotWithShape="1">
          <a:blip r:embed="rId3">
            <a:alphaModFix/>
          </a:blip>
          <a:srcRect b="0" l="0" r="0" t="25361"/>
          <a:stretch/>
        </p:blipFill>
        <p:spPr>
          <a:xfrm>
            <a:off x="5899875" y="0"/>
            <a:ext cx="1446375" cy="1083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21"/>
          <p:cNvPicPr preferRelativeResize="0"/>
          <p:nvPr/>
        </p:nvPicPr>
        <p:blipFill rotWithShape="1">
          <a:blip r:embed="rId4">
            <a:alphaModFix/>
          </a:blip>
          <a:srcRect b="989" l="0" r="0" t="980"/>
          <a:stretch/>
        </p:blipFill>
        <p:spPr>
          <a:xfrm>
            <a:off x="7231799" y="1156949"/>
            <a:ext cx="1004351" cy="988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21"/>
          <p:cNvPicPr preferRelativeResize="0"/>
          <p:nvPr/>
        </p:nvPicPr>
        <p:blipFill rotWithShape="1">
          <a:blip r:embed="rId3">
            <a:alphaModFix/>
          </a:blip>
          <a:srcRect b="0" l="0" r="23382" t="0"/>
          <a:stretch/>
        </p:blipFill>
        <p:spPr>
          <a:xfrm>
            <a:off x="7926475" y="2877225"/>
            <a:ext cx="1217526" cy="1595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21"/>
          <p:cNvPicPr preferRelativeResize="0"/>
          <p:nvPr/>
        </p:nvPicPr>
        <p:blipFill rotWithShape="1">
          <a:blip r:embed="rId4">
            <a:alphaModFix/>
          </a:blip>
          <a:srcRect b="989" l="0" r="0" t="980"/>
          <a:stretch/>
        </p:blipFill>
        <p:spPr>
          <a:xfrm>
            <a:off x="6670500" y="3652326"/>
            <a:ext cx="675748" cy="665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21"/>
          <p:cNvPicPr preferRelativeResize="0"/>
          <p:nvPr/>
        </p:nvPicPr>
        <p:blipFill rotWithShape="1">
          <a:blip r:embed="rId2">
            <a:alphaModFix/>
          </a:blip>
          <a:srcRect b="32971" l="0" r="0" t="0"/>
          <a:stretch/>
        </p:blipFill>
        <p:spPr>
          <a:xfrm>
            <a:off x="7671150" y="4688726"/>
            <a:ext cx="675750" cy="454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22"/>
          <p:cNvPicPr preferRelativeResize="0"/>
          <p:nvPr/>
        </p:nvPicPr>
        <p:blipFill rotWithShape="1">
          <a:blip r:embed="rId2">
            <a:alphaModFix/>
          </a:blip>
          <a:srcRect b="892" l="0" r="0" t="893"/>
          <a:stretch/>
        </p:blipFill>
        <p:spPr>
          <a:xfrm>
            <a:off x="7728625" y="490650"/>
            <a:ext cx="675750" cy="666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22"/>
          <p:cNvPicPr preferRelativeResize="0"/>
          <p:nvPr/>
        </p:nvPicPr>
        <p:blipFill rotWithShape="1">
          <a:blip r:embed="rId2">
            <a:alphaModFix/>
          </a:blip>
          <a:srcRect b="32971" l="0" r="0" t="0"/>
          <a:stretch/>
        </p:blipFill>
        <p:spPr>
          <a:xfrm>
            <a:off x="7671150" y="4688726"/>
            <a:ext cx="675750" cy="4547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22"/>
          <p:cNvGrpSpPr/>
          <p:nvPr/>
        </p:nvGrpSpPr>
        <p:grpSpPr>
          <a:xfrm>
            <a:off x="0" y="809153"/>
            <a:ext cx="9144000" cy="665100"/>
            <a:chOff x="0" y="809153"/>
            <a:chExt cx="9144000" cy="665100"/>
          </a:xfrm>
        </p:grpSpPr>
        <p:sp>
          <p:nvSpPr>
            <p:cNvPr id="87" name="Google Shape;87;p22"/>
            <p:cNvSpPr/>
            <p:nvPr/>
          </p:nvSpPr>
          <p:spPr>
            <a:xfrm>
              <a:off x="0" y="809153"/>
              <a:ext cx="9144000" cy="665100"/>
            </a:xfrm>
            <a:prstGeom prst="rect">
              <a:avLst/>
            </a:prstGeom>
            <a:solidFill>
              <a:srgbClr val="001033">
                <a:alpha val="3294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2"/>
            <p:cNvSpPr/>
            <p:nvPr/>
          </p:nvSpPr>
          <p:spPr>
            <a:xfrm>
              <a:off x="0" y="809153"/>
              <a:ext cx="81600" cy="665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22"/>
          <p:cNvSpPr txBox="1"/>
          <p:nvPr>
            <p:ph type="title"/>
          </p:nvPr>
        </p:nvSpPr>
        <p:spPr>
          <a:xfrm>
            <a:off x="514800" y="809150"/>
            <a:ext cx="6373800" cy="6651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90" name="Google Shape;90;p22"/>
          <p:cNvSpPr txBox="1"/>
          <p:nvPr>
            <p:ph idx="1" type="body"/>
          </p:nvPr>
        </p:nvSpPr>
        <p:spPr>
          <a:xfrm>
            <a:off x="514800" y="1582775"/>
            <a:ext cx="2991000" cy="29604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▸"/>
              <a:defRPr sz="2000"/>
            </a:lvl1pPr>
            <a:lvl2pPr indent="-355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2pPr>
            <a:lvl3pPr indent="-355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3pPr>
            <a:lvl4pPr indent="-355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4pPr>
            <a:lvl5pPr indent="-355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5pPr>
            <a:lvl6pPr indent="-355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6pPr>
            <a:lvl7pPr indent="-355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7pPr>
            <a:lvl8pPr indent="-355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8pPr>
            <a:lvl9pPr indent="-355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91" name="Google Shape;91;p22"/>
          <p:cNvSpPr txBox="1"/>
          <p:nvPr>
            <p:ph idx="2" type="body"/>
          </p:nvPr>
        </p:nvSpPr>
        <p:spPr>
          <a:xfrm>
            <a:off x="3897594" y="1582775"/>
            <a:ext cx="2991000" cy="29604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▸"/>
              <a:defRPr sz="2000"/>
            </a:lvl1pPr>
            <a:lvl2pPr indent="-355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2pPr>
            <a:lvl3pPr indent="-355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3pPr>
            <a:lvl4pPr indent="-355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4pPr>
            <a:lvl5pPr indent="-355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5pPr>
            <a:lvl6pPr indent="-355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6pPr>
            <a:lvl7pPr indent="-355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7pPr>
            <a:lvl8pPr indent="-355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8pPr>
            <a:lvl9pPr indent="-355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92" name="Google Shape;92;p22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3" name="Google Shape;93;p22"/>
          <p:cNvPicPr preferRelativeResize="0"/>
          <p:nvPr/>
        </p:nvPicPr>
        <p:blipFill rotWithShape="1">
          <a:blip r:embed="rId3">
            <a:alphaModFix/>
          </a:blip>
          <a:srcRect b="0" l="0" r="0" t="25361"/>
          <a:stretch/>
        </p:blipFill>
        <p:spPr>
          <a:xfrm>
            <a:off x="6282250" y="0"/>
            <a:ext cx="1446375" cy="1083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2"/>
          <p:cNvPicPr preferRelativeResize="0"/>
          <p:nvPr/>
        </p:nvPicPr>
        <p:blipFill rotWithShape="1">
          <a:blip r:embed="rId4">
            <a:alphaModFix/>
          </a:blip>
          <a:srcRect b="989" l="0" r="0" t="980"/>
          <a:stretch/>
        </p:blipFill>
        <p:spPr>
          <a:xfrm>
            <a:off x="7330024" y="2266737"/>
            <a:ext cx="1004351" cy="988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22"/>
          <p:cNvPicPr preferRelativeResize="0"/>
          <p:nvPr/>
        </p:nvPicPr>
        <p:blipFill rotWithShape="1">
          <a:blip r:embed="rId3">
            <a:alphaModFix/>
          </a:blip>
          <a:srcRect b="0" l="0" r="23382" t="0"/>
          <a:stretch/>
        </p:blipFill>
        <p:spPr>
          <a:xfrm>
            <a:off x="8277325" y="3336980"/>
            <a:ext cx="866675" cy="1135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2"/>
          <p:cNvPicPr preferRelativeResize="0"/>
          <p:nvPr/>
        </p:nvPicPr>
        <p:blipFill rotWithShape="1">
          <a:blip r:embed="rId4">
            <a:alphaModFix/>
          </a:blip>
          <a:srcRect b="989" l="0" r="0" t="980"/>
          <a:stretch/>
        </p:blipFill>
        <p:spPr>
          <a:xfrm>
            <a:off x="8277325" y="1248138"/>
            <a:ext cx="675748" cy="665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3"/>
          <p:cNvPicPr preferRelativeResize="0"/>
          <p:nvPr/>
        </p:nvPicPr>
        <p:blipFill rotWithShape="1">
          <a:blip r:embed="rId2">
            <a:alphaModFix/>
          </a:blip>
          <a:srcRect b="892" l="0" r="0" t="893"/>
          <a:stretch/>
        </p:blipFill>
        <p:spPr>
          <a:xfrm>
            <a:off x="8486650" y="532325"/>
            <a:ext cx="559400" cy="551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" name="Google Shape;99;p23"/>
          <p:cNvGrpSpPr/>
          <p:nvPr/>
        </p:nvGrpSpPr>
        <p:grpSpPr>
          <a:xfrm>
            <a:off x="0" y="809153"/>
            <a:ext cx="9144000" cy="665100"/>
            <a:chOff x="0" y="809153"/>
            <a:chExt cx="9144000" cy="665100"/>
          </a:xfrm>
        </p:grpSpPr>
        <p:sp>
          <p:nvSpPr>
            <p:cNvPr id="100" name="Google Shape;100;p23"/>
            <p:cNvSpPr/>
            <p:nvPr/>
          </p:nvSpPr>
          <p:spPr>
            <a:xfrm>
              <a:off x="0" y="809153"/>
              <a:ext cx="9144000" cy="665100"/>
            </a:xfrm>
            <a:prstGeom prst="rect">
              <a:avLst/>
            </a:prstGeom>
            <a:solidFill>
              <a:srgbClr val="001033">
                <a:alpha val="3294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3"/>
            <p:cNvSpPr/>
            <p:nvPr/>
          </p:nvSpPr>
          <p:spPr>
            <a:xfrm>
              <a:off x="0" y="809153"/>
              <a:ext cx="81600" cy="665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p23"/>
          <p:cNvSpPr txBox="1"/>
          <p:nvPr>
            <p:ph type="title"/>
          </p:nvPr>
        </p:nvSpPr>
        <p:spPr>
          <a:xfrm>
            <a:off x="514800" y="809150"/>
            <a:ext cx="6373800" cy="6651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03" name="Google Shape;103;p23"/>
          <p:cNvSpPr txBox="1"/>
          <p:nvPr>
            <p:ph idx="1" type="body"/>
          </p:nvPr>
        </p:nvSpPr>
        <p:spPr>
          <a:xfrm>
            <a:off x="514800" y="1582775"/>
            <a:ext cx="2489400" cy="29604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▸"/>
              <a:defRPr sz="2000"/>
            </a:lvl1pPr>
            <a:lvl2pPr indent="-355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2pPr>
            <a:lvl3pPr indent="-355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3pPr>
            <a:lvl4pPr indent="-355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4pPr>
            <a:lvl5pPr indent="-355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5pPr>
            <a:lvl6pPr indent="-355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6pPr>
            <a:lvl7pPr indent="-355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7pPr>
            <a:lvl8pPr indent="-355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8pPr>
            <a:lvl9pPr indent="-355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104" name="Google Shape;104;p23"/>
          <p:cNvSpPr txBox="1"/>
          <p:nvPr>
            <p:ph idx="2" type="body"/>
          </p:nvPr>
        </p:nvSpPr>
        <p:spPr>
          <a:xfrm>
            <a:off x="3295205" y="1582775"/>
            <a:ext cx="2489400" cy="29604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▸"/>
              <a:defRPr sz="2000"/>
            </a:lvl1pPr>
            <a:lvl2pPr indent="-355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2pPr>
            <a:lvl3pPr indent="-355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3pPr>
            <a:lvl4pPr indent="-355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4pPr>
            <a:lvl5pPr indent="-355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5pPr>
            <a:lvl6pPr indent="-355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6pPr>
            <a:lvl7pPr indent="-355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7pPr>
            <a:lvl8pPr indent="-355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8pPr>
            <a:lvl9pPr indent="-355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105" name="Google Shape;105;p23"/>
          <p:cNvSpPr txBox="1"/>
          <p:nvPr>
            <p:ph idx="3" type="body"/>
          </p:nvPr>
        </p:nvSpPr>
        <p:spPr>
          <a:xfrm>
            <a:off x="6075610" y="1582775"/>
            <a:ext cx="2489400" cy="29604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▸"/>
              <a:defRPr sz="2000"/>
            </a:lvl1pPr>
            <a:lvl2pPr indent="-355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2pPr>
            <a:lvl3pPr indent="-355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3pPr>
            <a:lvl4pPr indent="-355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4pPr>
            <a:lvl5pPr indent="-355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5pPr>
            <a:lvl6pPr indent="-355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6pPr>
            <a:lvl7pPr indent="-355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7pPr>
            <a:lvl8pPr indent="-355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  <a:defRPr sz="2000"/>
            </a:lvl8pPr>
            <a:lvl9pPr indent="-355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106" name="Google Shape;106;p23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7" name="Google Shape;107;p23"/>
          <p:cNvPicPr preferRelativeResize="0"/>
          <p:nvPr/>
        </p:nvPicPr>
        <p:blipFill rotWithShape="1">
          <a:blip r:embed="rId3">
            <a:alphaModFix/>
          </a:blip>
          <a:srcRect b="0" l="0" r="0" t="25361"/>
          <a:stretch/>
        </p:blipFill>
        <p:spPr>
          <a:xfrm>
            <a:off x="5899875" y="0"/>
            <a:ext cx="1446375" cy="1083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3"/>
          <p:cNvPicPr preferRelativeResize="0"/>
          <p:nvPr/>
        </p:nvPicPr>
        <p:blipFill rotWithShape="1">
          <a:blip r:embed="rId4">
            <a:alphaModFix/>
          </a:blip>
          <a:srcRect b="989" l="0" r="0" t="980"/>
          <a:stretch/>
        </p:blipFill>
        <p:spPr>
          <a:xfrm>
            <a:off x="7488675" y="1026200"/>
            <a:ext cx="675750" cy="665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3"/>
          <p:cNvPicPr preferRelativeResize="0"/>
          <p:nvPr/>
        </p:nvPicPr>
        <p:blipFill rotWithShape="1">
          <a:blip r:embed="rId3">
            <a:alphaModFix/>
          </a:blip>
          <a:srcRect b="0" l="0" r="57475" t="0"/>
          <a:stretch/>
        </p:blipFill>
        <p:spPr>
          <a:xfrm>
            <a:off x="8486650" y="2877225"/>
            <a:ext cx="675750" cy="1595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514800" y="809150"/>
            <a:ext cx="6373800" cy="6651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bel"/>
              <a:buNone/>
              <a:defRPr b="1" i="0" sz="36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bel"/>
              <a:buNone/>
              <a:defRPr b="1" i="0" sz="36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bel"/>
              <a:buNone/>
              <a:defRPr b="1" i="0" sz="36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bel"/>
              <a:buNone/>
              <a:defRPr b="1" i="0" sz="36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bel"/>
              <a:buNone/>
              <a:defRPr b="1" i="0" sz="36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bel"/>
              <a:buNone/>
              <a:defRPr b="1" i="0" sz="36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bel"/>
              <a:buNone/>
              <a:defRPr b="1" i="0" sz="36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bel"/>
              <a:buNone/>
              <a:defRPr b="1" i="0" sz="36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bel"/>
              <a:buNone/>
              <a:defRPr b="1" i="0" sz="36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514800" y="1582772"/>
            <a:ext cx="6373800" cy="28899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Encode Sans Semi Condensed Light"/>
              <a:buChar char="▸"/>
              <a:defRPr b="0" i="0" sz="2400" u="none" cap="none" strike="noStrike">
                <a:solidFill>
                  <a:schemeClr val="lt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Encode Sans Semi Condensed Light"/>
              <a:buChar char="▹"/>
              <a:defRPr b="0" i="0" sz="2400" u="none" cap="none" strike="noStrike">
                <a:solidFill>
                  <a:schemeClr val="lt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indent="-3810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Encode Sans Semi Condensed Light"/>
              <a:buChar char="▹"/>
              <a:defRPr b="0" i="0" sz="2400" u="none" cap="none" strike="noStrike">
                <a:solidFill>
                  <a:schemeClr val="lt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indent="-3810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Encode Sans Semi Condensed Light"/>
              <a:buChar char="▹"/>
              <a:defRPr b="0" i="0" sz="2400" u="none" cap="none" strike="noStrike">
                <a:solidFill>
                  <a:schemeClr val="lt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indent="-3810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Encode Sans Semi Condensed Light"/>
              <a:buChar char="▹"/>
              <a:defRPr b="0" i="0" sz="2400" u="none" cap="none" strike="noStrike">
                <a:solidFill>
                  <a:schemeClr val="lt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indent="-3810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Encode Sans Semi Condensed Light"/>
              <a:buChar char="▹"/>
              <a:defRPr b="0" i="0" sz="2400" u="none" cap="none" strike="noStrike">
                <a:solidFill>
                  <a:schemeClr val="lt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indent="-3810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Encode Sans Semi Condensed Light"/>
              <a:buChar char="▹"/>
              <a:defRPr b="0" i="0" sz="2400" u="none" cap="none" strike="noStrike">
                <a:solidFill>
                  <a:schemeClr val="lt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indent="-3810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Encode Sans Semi Condensed Light"/>
              <a:buChar char="▹"/>
              <a:defRPr b="0" i="0" sz="2400" u="none" cap="none" strike="noStrike">
                <a:solidFill>
                  <a:schemeClr val="lt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indent="-3810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Encode Sans Semi Condensed Light"/>
              <a:buChar char="■"/>
              <a:defRPr b="0" i="0" sz="2400" u="none" cap="none" strike="noStrike">
                <a:solidFill>
                  <a:schemeClr val="lt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kaggle.com/datasets/allen-institute-for-ai/CORD-19-research-challeng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kaggle.com/datasets/allen-institute-for-ai/CORD-19-research-challenge" TargetMode="External"/><Relationship Id="rId4" Type="http://schemas.openxmlformats.org/officeDocument/2006/relationships/hyperlink" Target="http://www.slidescarnival.com/?utm_source=template" TargetMode="External"/><Relationship Id="rId5" Type="http://schemas.openxmlformats.org/officeDocument/2006/relationships/hyperlink" Target="http://unsplash.com/&amp;utm_source=slidescarnival" TargetMode="External"/><Relationship Id="rId6" Type="http://schemas.openxmlformats.org/officeDocument/2006/relationships/hyperlink" Target="https://phil.cdc.gov/Details.aspx?pid=2331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"/>
          <p:cNvSpPr txBox="1"/>
          <p:nvPr>
            <p:ph type="ctrTitle"/>
          </p:nvPr>
        </p:nvSpPr>
        <p:spPr>
          <a:xfrm>
            <a:off x="133927" y="1237673"/>
            <a:ext cx="8968509" cy="2673927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 sz="4800"/>
              <a:t>Tracing Fourier-Transform Methods in SARS-CoV-2 Spike Protein Literature:</a:t>
            </a:r>
            <a:br>
              <a:rPr lang="en-US" sz="4800"/>
            </a:br>
            <a:r>
              <a:rPr lang="en-US" sz="4800"/>
              <a:t>	  A CORD-19 Dataset Analysis</a:t>
            </a:r>
            <a:endParaRPr sz="4800"/>
          </a:p>
        </p:txBody>
      </p:sp>
      <p:sp>
        <p:nvSpPr>
          <p:cNvPr id="115" name="Google Shape;115;p1"/>
          <p:cNvSpPr txBox="1"/>
          <p:nvPr/>
        </p:nvSpPr>
        <p:spPr>
          <a:xfrm>
            <a:off x="3641437" y="3699164"/>
            <a:ext cx="1861126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rPr>
              <a:t>Noah English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rPr>
              <a:t>     DATA 3371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"/>
          <p:cNvSpPr txBox="1"/>
          <p:nvPr>
            <p:ph idx="4294967295" type="subTitle"/>
          </p:nvPr>
        </p:nvSpPr>
        <p:spPr>
          <a:xfrm>
            <a:off x="518800" y="3260437"/>
            <a:ext cx="5173800" cy="1883064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Encode Sans Semi Condensed Light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rPr>
              <a:t>It was first released in March 2020 by a coalition including the Allen Institute for AI, the Chan Zuckerberg Initiative, Georgetown University, Microsoft Research, and the National Library of Medicine. Its goal is to provide researchers with a large, structured corpus of scholarly publications to accelerate insights and computational research related to COVID-19 and coronaviruses.</a:t>
            </a:r>
            <a:endParaRPr b="0" i="0" sz="2400" u="none" cap="none" strike="noStrike">
              <a:solidFill>
                <a:schemeClr val="lt1"/>
              </a:solidFill>
              <a:latin typeface="Encode Sans Semi Condensed Light"/>
              <a:ea typeface="Encode Sans Semi Condensed Light"/>
              <a:cs typeface="Encode Sans Semi Condensed Light"/>
              <a:sym typeface="Encode Sans Semi Condensed Light"/>
            </a:endParaRPr>
          </a:p>
        </p:txBody>
      </p:sp>
      <p:sp>
        <p:nvSpPr>
          <p:cNvPr id="121" name="Google Shape;121;p2"/>
          <p:cNvSpPr txBox="1"/>
          <p:nvPr>
            <p:ph idx="4294967295" type="ctrTitle"/>
          </p:nvPr>
        </p:nvSpPr>
        <p:spPr>
          <a:xfrm>
            <a:off x="518800" y="2269150"/>
            <a:ext cx="5173800" cy="11598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bel"/>
              <a:buNone/>
            </a:pPr>
            <a:r>
              <a:rPr b="1" i="0" lang="en-US" sz="96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rPr>
              <a:t>CORD-19</a:t>
            </a:r>
            <a:br>
              <a:rPr b="1" i="0" lang="en-US" sz="96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rPr>
            </a:br>
            <a:r>
              <a:rPr b="1" i="0" lang="en-US" sz="96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rPr>
              <a:t>Dataset</a:t>
            </a:r>
            <a:endParaRPr b="1" i="0" sz="9600" u="none" cap="none" strike="noStrike">
              <a:solidFill>
                <a:schemeClr val="lt1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122" name="Google Shape;122;p2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23" name="Google Shape;123;p2"/>
          <p:cNvGrpSpPr/>
          <p:nvPr/>
        </p:nvGrpSpPr>
        <p:grpSpPr>
          <a:xfrm>
            <a:off x="6957674" y="2087092"/>
            <a:ext cx="1130198" cy="1130198"/>
            <a:chOff x="8762414" y="2939573"/>
            <a:chExt cx="457200" cy="457200"/>
          </a:xfrm>
        </p:grpSpPr>
        <p:sp>
          <p:nvSpPr>
            <p:cNvPr id="124" name="Google Shape;124;p2"/>
            <p:cNvSpPr/>
            <p:nvPr/>
          </p:nvSpPr>
          <p:spPr>
            <a:xfrm>
              <a:off x="9010064" y="3034823"/>
              <a:ext cx="209550" cy="66675"/>
            </a:xfrm>
            <a:custGeom>
              <a:rect b="b" l="l" r="r" t="t"/>
              <a:pathLst>
                <a:path extrusionOk="0" h="66675" w="209550">
                  <a:moveTo>
                    <a:pt x="200025" y="0"/>
                  </a:moveTo>
                  <a:lnTo>
                    <a:pt x="9525" y="0"/>
                  </a:lnTo>
                  <a:cubicBezTo>
                    <a:pt x="3810" y="0"/>
                    <a:pt x="0" y="3810"/>
                    <a:pt x="0" y="9525"/>
                  </a:cubicBezTo>
                  <a:lnTo>
                    <a:pt x="0" y="57150"/>
                  </a:lnTo>
                  <a:cubicBezTo>
                    <a:pt x="0" y="62865"/>
                    <a:pt x="3810" y="66675"/>
                    <a:pt x="9525" y="66675"/>
                  </a:cubicBezTo>
                  <a:lnTo>
                    <a:pt x="200025" y="66675"/>
                  </a:lnTo>
                  <a:cubicBezTo>
                    <a:pt x="205740" y="66675"/>
                    <a:pt x="209550" y="62865"/>
                    <a:pt x="209550" y="57150"/>
                  </a:cubicBezTo>
                  <a:lnTo>
                    <a:pt x="209550" y="9525"/>
                  </a:lnTo>
                  <a:cubicBezTo>
                    <a:pt x="209550" y="3810"/>
                    <a:pt x="205740" y="0"/>
                    <a:pt x="2000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9029114" y="3120548"/>
              <a:ext cx="171450" cy="276225"/>
            </a:xfrm>
            <a:custGeom>
              <a:rect b="b" l="l" r="r" t="t"/>
              <a:pathLst>
                <a:path extrusionOk="0" h="276225" w="171450">
                  <a:moveTo>
                    <a:pt x="0" y="266700"/>
                  </a:moveTo>
                  <a:cubicBezTo>
                    <a:pt x="0" y="272415"/>
                    <a:pt x="3810" y="276225"/>
                    <a:pt x="9525" y="276225"/>
                  </a:cubicBezTo>
                  <a:lnTo>
                    <a:pt x="161925" y="276225"/>
                  </a:lnTo>
                  <a:cubicBezTo>
                    <a:pt x="167640" y="276225"/>
                    <a:pt x="171450" y="272415"/>
                    <a:pt x="171450" y="266700"/>
                  </a:cubicBezTo>
                  <a:lnTo>
                    <a:pt x="171450" y="0"/>
                  </a:lnTo>
                  <a:lnTo>
                    <a:pt x="0" y="0"/>
                  </a:lnTo>
                  <a:lnTo>
                    <a:pt x="0" y="266700"/>
                  </a:lnTo>
                  <a:close/>
                  <a:moveTo>
                    <a:pt x="28575" y="57150"/>
                  </a:moveTo>
                  <a:cubicBezTo>
                    <a:pt x="28575" y="51435"/>
                    <a:pt x="32385" y="47625"/>
                    <a:pt x="38100" y="47625"/>
                  </a:cubicBezTo>
                  <a:lnTo>
                    <a:pt x="133350" y="47625"/>
                  </a:lnTo>
                  <a:cubicBezTo>
                    <a:pt x="139065" y="47625"/>
                    <a:pt x="142875" y="51435"/>
                    <a:pt x="142875" y="57150"/>
                  </a:cubicBezTo>
                  <a:lnTo>
                    <a:pt x="142875" y="123825"/>
                  </a:lnTo>
                  <a:cubicBezTo>
                    <a:pt x="142875" y="129540"/>
                    <a:pt x="139065" y="133350"/>
                    <a:pt x="133350" y="133350"/>
                  </a:cubicBezTo>
                  <a:lnTo>
                    <a:pt x="38100" y="133350"/>
                  </a:lnTo>
                  <a:cubicBezTo>
                    <a:pt x="32385" y="133350"/>
                    <a:pt x="28575" y="129540"/>
                    <a:pt x="28575" y="123825"/>
                  </a:cubicBezTo>
                  <a:lnTo>
                    <a:pt x="28575" y="57150"/>
                  </a:lnTo>
                  <a:close/>
                  <a:moveTo>
                    <a:pt x="38100" y="161925"/>
                  </a:moveTo>
                  <a:lnTo>
                    <a:pt x="133350" y="161925"/>
                  </a:lnTo>
                  <a:cubicBezTo>
                    <a:pt x="139065" y="161925"/>
                    <a:pt x="142875" y="165735"/>
                    <a:pt x="142875" y="171450"/>
                  </a:cubicBezTo>
                  <a:cubicBezTo>
                    <a:pt x="142875" y="177165"/>
                    <a:pt x="139065" y="180975"/>
                    <a:pt x="133350" y="180975"/>
                  </a:cubicBezTo>
                  <a:lnTo>
                    <a:pt x="38100" y="180975"/>
                  </a:lnTo>
                  <a:cubicBezTo>
                    <a:pt x="32385" y="180975"/>
                    <a:pt x="28575" y="177165"/>
                    <a:pt x="28575" y="171450"/>
                  </a:cubicBezTo>
                  <a:cubicBezTo>
                    <a:pt x="28575" y="165735"/>
                    <a:pt x="32385" y="161925"/>
                    <a:pt x="38100" y="1619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8762414" y="2939573"/>
              <a:ext cx="200025" cy="457200"/>
            </a:xfrm>
            <a:custGeom>
              <a:rect b="b" l="l" r="r" t="t"/>
              <a:pathLst>
                <a:path extrusionOk="0" h="457200" w="200025">
                  <a:moveTo>
                    <a:pt x="185738" y="76200"/>
                  </a:moveTo>
                  <a:lnTo>
                    <a:pt x="133350" y="76200"/>
                  </a:lnTo>
                  <a:lnTo>
                    <a:pt x="133350" y="28575"/>
                  </a:lnTo>
                  <a:lnTo>
                    <a:pt x="157163" y="28575"/>
                  </a:lnTo>
                  <a:cubicBezTo>
                    <a:pt x="164783" y="28575"/>
                    <a:pt x="171450" y="21908"/>
                    <a:pt x="171450" y="14288"/>
                  </a:cubicBezTo>
                  <a:cubicBezTo>
                    <a:pt x="171450" y="6668"/>
                    <a:pt x="164783" y="0"/>
                    <a:pt x="157163" y="0"/>
                  </a:cubicBezTo>
                  <a:lnTo>
                    <a:pt x="42863" y="0"/>
                  </a:lnTo>
                  <a:cubicBezTo>
                    <a:pt x="35243" y="0"/>
                    <a:pt x="28575" y="6668"/>
                    <a:pt x="28575" y="14288"/>
                  </a:cubicBezTo>
                  <a:cubicBezTo>
                    <a:pt x="28575" y="21908"/>
                    <a:pt x="35243" y="28575"/>
                    <a:pt x="42863" y="28575"/>
                  </a:cubicBezTo>
                  <a:lnTo>
                    <a:pt x="66675" y="28575"/>
                  </a:lnTo>
                  <a:lnTo>
                    <a:pt x="66675" y="76200"/>
                  </a:lnTo>
                  <a:lnTo>
                    <a:pt x="14288" y="76200"/>
                  </a:lnTo>
                  <a:cubicBezTo>
                    <a:pt x="6668" y="76200"/>
                    <a:pt x="0" y="82868"/>
                    <a:pt x="0" y="90488"/>
                  </a:cubicBezTo>
                  <a:cubicBezTo>
                    <a:pt x="0" y="98108"/>
                    <a:pt x="6668" y="104775"/>
                    <a:pt x="14288" y="104775"/>
                  </a:cubicBezTo>
                  <a:lnTo>
                    <a:pt x="47625" y="104775"/>
                  </a:lnTo>
                  <a:lnTo>
                    <a:pt x="47625" y="323850"/>
                  </a:lnTo>
                  <a:cubicBezTo>
                    <a:pt x="47625" y="334328"/>
                    <a:pt x="56198" y="342900"/>
                    <a:pt x="66675" y="342900"/>
                  </a:cubicBezTo>
                  <a:lnTo>
                    <a:pt x="66675" y="361950"/>
                  </a:lnTo>
                  <a:cubicBezTo>
                    <a:pt x="66675" y="367665"/>
                    <a:pt x="70485" y="371475"/>
                    <a:pt x="76200" y="371475"/>
                  </a:cubicBezTo>
                  <a:lnTo>
                    <a:pt x="85725" y="371475"/>
                  </a:lnTo>
                  <a:lnTo>
                    <a:pt x="85725" y="442913"/>
                  </a:lnTo>
                  <a:cubicBezTo>
                    <a:pt x="85725" y="450533"/>
                    <a:pt x="92393" y="457200"/>
                    <a:pt x="100013" y="457200"/>
                  </a:cubicBezTo>
                  <a:cubicBezTo>
                    <a:pt x="107633" y="457200"/>
                    <a:pt x="114300" y="450533"/>
                    <a:pt x="114300" y="442913"/>
                  </a:cubicBezTo>
                  <a:lnTo>
                    <a:pt x="114300" y="371475"/>
                  </a:lnTo>
                  <a:lnTo>
                    <a:pt x="123825" y="371475"/>
                  </a:lnTo>
                  <a:cubicBezTo>
                    <a:pt x="129540" y="371475"/>
                    <a:pt x="133350" y="367665"/>
                    <a:pt x="133350" y="361950"/>
                  </a:cubicBezTo>
                  <a:lnTo>
                    <a:pt x="133350" y="342900"/>
                  </a:lnTo>
                  <a:cubicBezTo>
                    <a:pt x="143828" y="342900"/>
                    <a:pt x="152400" y="334328"/>
                    <a:pt x="152400" y="323850"/>
                  </a:cubicBezTo>
                  <a:lnTo>
                    <a:pt x="152400" y="104775"/>
                  </a:lnTo>
                  <a:lnTo>
                    <a:pt x="185738" y="104775"/>
                  </a:lnTo>
                  <a:cubicBezTo>
                    <a:pt x="193358" y="104775"/>
                    <a:pt x="200025" y="98108"/>
                    <a:pt x="200025" y="90488"/>
                  </a:cubicBezTo>
                  <a:cubicBezTo>
                    <a:pt x="200025" y="82868"/>
                    <a:pt x="193358" y="76200"/>
                    <a:pt x="185738" y="76200"/>
                  </a:cubicBezTo>
                  <a:close/>
                  <a:moveTo>
                    <a:pt x="123825" y="247650"/>
                  </a:moveTo>
                  <a:lnTo>
                    <a:pt x="76200" y="247650"/>
                  </a:lnTo>
                  <a:lnTo>
                    <a:pt x="76200" y="123825"/>
                  </a:lnTo>
                  <a:lnTo>
                    <a:pt x="123825" y="123825"/>
                  </a:lnTo>
                  <a:lnTo>
                    <a:pt x="123825" y="2476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p2"/>
          <p:cNvSpPr/>
          <p:nvPr/>
        </p:nvSpPr>
        <p:spPr>
          <a:xfrm>
            <a:off x="7232451" y="1416429"/>
            <a:ext cx="580644" cy="580644"/>
          </a:xfrm>
          <a:custGeom>
            <a:rect b="b" l="l" r="r" t="t"/>
            <a:pathLst>
              <a:path extrusionOk="0" h="457200" w="457200">
                <a:moveTo>
                  <a:pt x="438150" y="209550"/>
                </a:moveTo>
                <a:lnTo>
                  <a:pt x="399098" y="209550"/>
                </a:lnTo>
                <a:cubicBezTo>
                  <a:pt x="395288" y="176213"/>
                  <a:pt x="381953" y="146685"/>
                  <a:pt x="362903" y="121920"/>
                </a:cubicBezTo>
                <a:lnTo>
                  <a:pt x="395288" y="89535"/>
                </a:lnTo>
                <a:cubicBezTo>
                  <a:pt x="402908" y="81915"/>
                  <a:pt x="402908" y="70485"/>
                  <a:pt x="395288" y="62865"/>
                </a:cubicBezTo>
                <a:cubicBezTo>
                  <a:pt x="387668" y="55245"/>
                  <a:pt x="376238" y="55245"/>
                  <a:pt x="368618" y="62865"/>
                </a:cubicBezTo>
                <a:lnTo>
                  <a:pt x="336233" y="95250"/>
                </a:lnTo>
                <a:cubicBezTo>
                  <a:pt x="311468" y="75248"/>
                  <a:pt x="280988" y="62865"/>
                  <a:pt x="248603" y="59055"/>
                </a:cubicBezTo>
                <a:lnTo>
                  <a:pt x="248603" y="19050"/>
                </a:lnTo>
                <a:cubicBezTo>
                  <a:pt x="248603" y="8573"/>
                  <a:pt x="240030" y="0"/>
                  <a:pt x="229553" y="0"/>
                </a:cubicBezTo>
                <a:cubicBezTo>
                  <a:pt x="219075" y="0"/>
                  <a:pt x="210503" y="8573"/>
                  <a:pt x="210503" y="19050"/>
                </a:cubicBezTo>
                <a:lnTo>
                  <a:pt x="210503" y="58103"/>
                </a:lnTo>
                <a:cubicBezTo>
                  <a:pt x="177165" y="61913"/>
                  <a:pt x="147638" y="75248"/>
                  <a:pt x="122873" y="94298"/>
                </a:cubicBezTo>
                <a:lnTo>
                  <a:pt x="89535" y="62865"/>
                </a:lnTo>
                <a:cubicBezTo>
                  <a:pt x="81915" y="55245"/>
                  <a:pt x="70485" y="55245"/>
                  <a:pt x="62865" y="62865"/>
                </a:cubicBezTo>
                <a:cubicBezTo>
                  <a:pt x="55245" y="70485"/>
                  <a:pt x="55245" y="81915"/>
                  <a:pt x="62865" y="89535"/>
                </a:cubicBezTo>
                <a:lnTo>
                  <a:pt x="95250" y="121920"/>
                </a:lnTo>
                <a:cubicBezTo>
                  <a:pt x="75248" y="146685"/>
                  <a:pt x="62865" y="177165"/>
                  <a:pt x="59055" y="209550"/>
                </a:cubicBezTo>
                <a:lnTo>
                  <a:pt x="19050" y="209550"/>
                </a:lnTo>
                <a:cubicBezTo>
                  <a:pt x="8573" y="209550"/>
                  <a:pt x="0" y="218123"/>
                  <a:pt x="0" y="228600"/>
                </a:cubicBezTo>
                <a:cubicBezTo>
                  <a:pt x="0" y="239078"/>
                  <a:pt x="8573" y="247650"/>
                  <a:pt x="19050" y="247650"/>
                </a:cubicBezTo>
                <a:lnTo>
                  <a:pt x="58103" y="247650"/>
                </a:lnTo>
                <a:cubicBezTo>
                  <a:pt x="61913" y="280988"/>
                  <a:pt x="75248" y="310515"/>
                  <a:pt x="94298" y="335280"/>
                </a:cubicBezTo>
                <a:lnTo>
                  <a:pt x="61913" y="367665"/>
                </a:lnTo>
                <a:cubicBezTo>
                  <a:pt x="54293" y="375285"/>
                  <a:pt x="54293" y="386715"/>
                  <a:pt x="61913" y="394335"/>
                </a:cubicBezTo>
                <a:cubicBezTo>
                  <a:pt x="66675" y="398145"/>
                  <a:pt x="71438" y="400050"/>
                  <a:pt x="76200" y="400050"/>
                </a:cubicBezTo>
                <a:cubicBezTo>
                  <a:pt x="80963" y="400050"/>
                  <a:pt x="85725" y="398145"/>
                  <a:pt x="89535" y="394335"/>
                </a:cubicBezTo>
                <a:lnTo>
                  <a:pt x="121920" y="361950"/>
                </a:lnTo>
                <a:cubicBezTo>
                  <a:pt x="146685" y="381953"/>
                  <a:pt x="177165" y="394335"/>
                  <a:pt x="209550" y="398145"/>
                </a:cubicBezTo>
                <a:lnTo>
                  <a:pt x="209550" y="438150"/>
                </a:lnTo>
                <a:cubicBezTo>
                  <a:pt x="209550" y="448628"/>
                  <a:pt x="218123" y="457200"/>
                  <a:pt x="228600" y="457200"/>
                </a:cubicBezTo>
                <a:cubicBezTo>
                  <a:pt x="239078" y="457200"/>
                  <a:pt x="247650" y="448628"/>
                  <a:pt x="247650" y="438150"/>
                </a:cubicBezTo>
                <a:lnTo>
                  <a:pt x="247650" y="399098"/>
                </a:lnTo>
                <a:cubicBezTo>
                  <a:pt x="280988" y="395288"/>
                  <a:pt x="310515" y="381953"/>
                  <a:pt x="335280" y="362903"/>
                </a:cubicBezTo>
                <a:lnTo>
                  <a:pt x="367665" y="395288"/>
                </a:lnTo>
                <a:cubicBezTo>
                  <a:pt x="371475" y="398145"/>
                  <a:pt x="376238" y="400050"/>
                  <a:pt x="381000" y="400050"/>
                </a:cubicBezTo>
                <a:cubicBezTo>
                  <a:pt x="385763" y="400050"/>
                  <a:pt x="390525" y="398145"/>
                  <a:pt x="394335" y="394335"/>
                </a:cubicBezTo>
                <a:cubicBezTo>
                  <a:pt x="401955" y="386715"/>
                  <a:pt x="401955" y="375285"/>
                  <a:pt x="394335" y="367665"/>
                </a:cubicBezTo>
                <a:lnTo>
                  <a:pt x="361950" y="335280"/>
                </a:lnTo>
                <a:cubicBezTo>
                  <a:pt x="381953" y="310515"/>
                  <a:pt x="394335" y="280035"/>
                  <a:pt x="398145" y="247650"/>
                </a:cubicBezTo>
                <a:lnTo>
                  <a:pt x="438150" y="247650"/>
                </a:lnTo>
                <a:cubicBezTo>
                  <a:pt x="448628" y="247650"/>
                  <a:pt x="457200" y="239078"/>
                  <a:pt x="457200" y="228600"/>
                </a:cubicBezTo>
                <a:cubicBezTo>
                  <a:pt x="457200" y="218123"/>
                  <a:pt x="448628" y="209550"/>
                  <a:pt x="438150" y="209550"/>
                </a:cubicBezTo>
                <a:close/>
                <a:moveTo>
                  <a:pt x="185738" y="114300"/>
                </a:moveTo>
                <a:cubicBezTo>
                  <a:pt x="203835" y="114300"/>
                  <a:pt x="219075" y="129540"/>
                  <a:pt x="219075" y="147638"/>
                </a:cubicBezTo>
                <a:cubicBezTo>
                  <a:pt x="219075" y="165735"/>
                  <a:pt x="203835" y="180975"/>
                  <a:pt x="185738" y="180975"/>
                </a:cubicBezTo>
                <a:cubicBezTo>
                  <a:pt x="167640" y="180975"/>
                  <a:pt x="152400" y="165735"/>
                  <a:pt x="152400" y="147638"/>
                </a:cubicBezTo>
                <a:cubicBezTo>
                  <a:pt x="152400" y="129540"/>
                  <a:pt x="167640" y="114300"/>
                  <a:pt x="185738" y="114300"/>
                </a:cubicBezTo>
                <a:close/>
                <a:moveTo>
                  <a:pt x="180975" y="333375"/>
                </a:moveTo>
                <a:cubicBezTo>
                  <a:pt x="149543" y="333375"/>
                  <a:pt x="123825" y="307658"/>
                  <a:pt x="123825" y="276225"/>
                </a:cubicBezTo>
                <a:cubicBezTo>
                  <a:pt x="123825" y="244793"/>
                  <a:pt x="149543" y="219075"/>
                  <a:pt x="180975" y="219075"/>
                </a:cubicBezTo>
                <a:cubicBezTo>
                  <a:pt x="212408" y="219075"/>
                  <a:pt x="238125" y="244793"/>
                  <a:pt x="238125" y="276225"/>
                </a:cubicBezTo>
                <a:cubicBezTo>
                  <a:pt x="238125" y="307658"/>
                  <a:pt x="212408" y="333375"/>
                  <a:pt x="180975" y="333375"/>
                </a:cubicBezTo>
                <a:close/>
                <a:moveTo>
                  <a:pt x="295275" y="323850"/>
                </a:moveTo>
                <a:cubicBezTo>
                  <a:pt x="284798" y="323850"/>
                  <a:pt x="276225" y="315278"/>
                  <a:pt x="276225" y="304800"/>
                </a:cubicBezTo>
                <a:cubicBezTo>
                  <a:pt x="276225" y="294323"/>
                  <a:pt x="284798" y="285750"/>
                  <a:pt x="295275" y="285750"/>
                </a:cubicBezTo>
                <a:cubicBezTo>
                  <a:pt x="305753" y="285750"/>
                  <a:pt x="314325" y="294323"/>
                  <a:pt x="314325" y="304800"/>
                </a:cubicBezTo>
                <a:cubicBezTo>
                  <a:pt x="314325" y="315278"/>
                  <a:pt x="305753" y="323850"/>
                  <a:pt x="295275" y="323850"/>
                </a:cubicBezTo>
                <a:close/>
                <a:moveTo>
                  <a:pt x="300038" y="238125"/>
                </a:moveTo>
                <a:cubicBezTo>
                  <a:pt x="276225" y="238125"/>
                  <a:pt x="257175" y="219075"/>
                  <a:pt x="257175" y="195263"/>
                </a:cubicBezTo>
                <a:cubicBezTo>
                  <a:pt x="257175" y="171450"/>
                  <a:pt x="276225" y="152400"/>
                  <a:pt x="300038" y="152400"/>
                </a:cubicBezTo>
                <a:cubicBezTo>
                  <a:pt x="323850" y="152400"/>
                  <a:pt x="342900" y="171450"/>
                  <a:pt x="342900" y="195263"/>
                </a:cubicBezTo>
                <a:cubicBezTo>
                  <a:pt x="342900" y="219075"/>
                  <a:pt x="323850" y="238125"/>
                  <a:pt x="300038" y="23812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5921714" y="990545"/>
            <a:ext cx="1130427" cy="1130427"/>
          </a:xfrm>
          <a:custGeom>
            <a:rect b="b" l="l" r="r" t="t"/>
            <a:pathLst>
              <a:path extrusionOk="0" h="457200" w="457200">
                <a:moveTo>
                  <a:pt x="442913" y="180975"/>
                </a:moveTo>
                <a:cubicBezTo>
                  <a:pt x="435023" y="180974"/>
                  <a:pt x="428626" y="187368"/>
                  <a:pt x="428625" y="195258"/>
                </a:cubicBezTo>
                <a:cubicBezTo>
                  <a:pt x="428625" y="195260"/>
                  <a:pt x="428625" y="195261"/>
                  <a:pt x="428625" y="195263"/>
                </a:cubicBezTo>
                <a:lnTo>
                  <a:pt x="428625" y="209550"/>
                </a:lnTo>
                <a:lnTo>
                  <a:pt x="389308" y="209550"/>
                </a:lnTo>
                <a:cubicBezTo>
                  <a:pt x="385830" y="179926"/>
                  <a:pt x="374190" y="151851"/>
                  <a:pt x="355685" y="128457"/>
                </a:cubicBezTo>
                <a:lnTo>
                  <a:pt x="383510" y="100631"/>
                </a:lnTo>
                <a:lnTo>
                  <a:pt x="394709" y="110114"/>
                </a:lnTo>
                <a:cubicBezTo>
                  <a:pt x="400281" y="115700"/>
                  <a:pt x="409327" y="115711"/>
                  <a:pt x="414914" y="110139"/>
                </a:cubicBezTo>
                <a:cubicBezTo>
                  <a:pt x="420500" y="104565"/>
                  <a:pt x="420511" y="95520"/>
                  <a:pt x="414938" y="89934"/>
                </a:cubicBezTo>
                <a:cubicBezTo>
                  <a:pt x="414930" y="89926"/>
                  <a:pt x="414922" y="89918"/>
                  <a:pt x="414915" y="89911"/>
                </a:cubicBezTo>
                <a:lnTo>
                  <a:pt x="367291" y="42286"/>
                </a:lnTo>
                <a:cubicBezTo>
                  <a:pt x="361712" y="36706"/>
                  <a:pt x="352666" y="36706"/>
                  <a:pt x="347086" y="42285"/>
                </a:cubicBezTo>
                <a:cubicBezTo>
                  <a:pt x="341507" y="47864"/>
                  <a:pt x="341506" y="56910"/>
                  <a:pt x="347085" y="62489"/>
                </a:cubicBezTo>
                <a:lnTo>
                  <a:pt x="356569" y="73689"/>
                </a:lnTo>
                <a:lnTo>
                  <a:pt x="328743" y="101515"/>
                </a:lnTo>
                <a:cubicBezTo>
                  <a:pt x="305349" y="83012"/>
                  <a:pt x="277274" y="71372"/>
                  <a:pt x="247650" y="67894"/>
                </a:cubicBezTo>
                <a:lnTo>
                  <a:pt x="247650" y="28575"/>
                </a:lnTo>
                <a:lnTo>
                  <a:pt x="261938" y="28575"/>
                </a:lnTo>
                <a:cubicBezTo>
                  <a:pt x="269828" y="28575"/>
                  <a:pt x="276225" y="22178"/>
                  <a:pt x="276225" y="14288"/>
                </a:cubicBezTo>
                <a:cubicBezTo>
                  <a:pt x="276225" y="6397"/>
                  <a:pt x="269828" y="0"/>
                  <a:pt x="261938" y="0"/>
                </a:cubicBezTo>
                <a:lnTo>
                  <a:pt x="195263" y="0"/>
                </a:lnTo>
                <a:cubicBezTo>
                  <a:pt x="187372" y="0"/>
                  <a:pt x="180975" y="6397"/>
                  <a:pt x="180975" y="14288"/>
                </a:cubicBezTo>
                <a:cubicBezTo>
                  <a:pt x="180975" y="22178"/>
                  <a:pt x="187372" y="28575"/>
                  <a:pt x="195263" y="28575"/>
                </a:cubicBezTo>
                <a:lnTo>
                  <a:pt x="209550" y="28575"/>
                </a:lnTo>
                <a:lnTo>
                  <a:pt x="209550" y="67894"/>
                </a:lnTo>
                <a:cubicBezTo>
                  <a:pt x="179926" y="71372"/>
                  <a:pt x="151851" y="83012"/>
                  <a:pt x="128457" y="101515"/>
                </a:cubicBezTo>
                <a:lnTo>
                  <a:pt x="100631" y="73689"/>
                </a:lnTo>
                <a:lnTo>
                  <a:pt x="110115" y="62489"/>
                </a:lnTo>
                <a:cubicBezTo>
                  <a:pt x="115694" y="56910"/>
                  <a:pt x="115694" y="47864"/>
                  <a:pt x="110114" y="42285"/>
                </a:cubicBezTo>
                <a:cubicBezTo>
                  <a:pt x="104534" y="36706"/>
                  <a:pt x="95488" y="36706"/>
                  <a:pt x="89910" y="42286"/>
                </a:cubicBezTo>
                <a:lnTo>
                  <a:pt x="43382" y="89911"/>
                </a:lnTo>
                <a:cubicBezTo>
                  <a:pt x="37817" y="95504"/>
                  <a:pt x="37839" y="104550"/>
                  <a:pt x="43433" y="110116"/>
                </a:cubicBezTo>
                <a:cubicBezTo>
                  <a:pt x="49007" y="115661"/>
                  <a:pt x="58015" y="115661"/>
                  <a:pt x="63588" y="110115"/>
                </a:cubicBezTo>
                <a:lnTo>
                  <a:pt x="73691" y="100631"/>
                </a:lnTo>
                <a:lnTo>
                  <a:pt x="101516" y="128457"/>
                </a:lnTo>
                <a:cubicBezTo>
                  <a:pt x="83011" y="151851"/>
                  <a:pt x="71370" y="179926"/>
                  <a:pt x="67892" y="209550"/>
                </a:cubicBezTo>
                <a:lnTo>
                  <a:pt x="28575" y="209550"/>
                </a:lnTo>
                <a:lnTo>
                  <a:pt x="28575" y="195263"/>
                </a:lnTo>
                <a:cubicBezTo>
                  <a:pt x="28575" y="187372"/>
                  <a:pt x="22178" y="180975"/>
                  <a:pt x="14288" y="180975"/>
                </a:cubicBezTo>
                <a:cubicBezTo>
                  <a:pt x="6397" y="180975"/>
                  <a:pt x="0" y="187372"/>
                  <a:pt x="0" y="195263"/>
                </a:cubicBezTo>
                <a:lnTo>
                  <a:pt x="0" y="261938"/>
                </a:lnTo>
                <a:cubicBezTo>
                  <a:pt x="0" y="269828"/>
                  <a:pt x="6397" y="276225"/>
                  <a:pt x="14288" y="276225"/>
                </a:cubicBezTo>
                <a:cubicBezTo>
                  <a:pt x="22178" y="276225"/>
                  <a:pt x="28575" y="269828"/>
                  <a:pt x="28575" y="261938"/>
                </a:cubicBezTo>
                <a:lnTo>
                  <a:pt x="28575" y="247650"/>
                </a:lnTo>
                <a:lnTo>
                  <a:pt x="67892" y="247650"/>
                </a:lnTo>
                <a:cubicBezTo>
                  <a:pt x="71370" y="277274"/>
                  <a:pt x="83011" y="305349"/>
                  <a:pt x="101516" y="328743"/>
                </a:cubicBezTo>
                <a:lnTo>
                  <a:pt x="73691" y="356569"/>
                </a:lnTo>
                <a:lnTo>
                  <a:pt x="62491" y="347085"/>
                </a:lnTo>
                <a:cubicBezTo>
                  <a:pt x="56906" y="341512"/>
                  <a:pt x="47860" y="341522"/>
                  <a:pt x="42287" y="347107"/>
                </a:cubicBezTo>
                <a:cubicBezTo>
                  <a:pt x="36722" y="352684"/>
                  <a:pt x="36722" y="361712"/>
                  <a:pt x="42285" y="367290"/>
                </a:cubicBezTo>
                <a:lnTo>
                  <a:pt x="89910" y="414915"/>
                </a:lnTo>
                <a:cubicBezTo>
                  <a:pt x="95488" y="420494"/>
                  <a:pt x="104534" y="420494"/>
                  <a:pt x="110114" y="414915"/>
                </a:cubicBezTo>
                <a:cubicBezTo>
                  <a:pt x="115694" y="409336"/>
                  <a:pt x="115694" y="400290"/>
                  <a:pt x="110115" y="394710"/>
                </a:cubicBezTo>
                <a:lnTo>
                  <a:pt x="100631" y="383512"/>
                </a:lnTo>
                <a:lnTo>
                  <a:pt x="128456" y="355685"/>
                </a:lnTo>
                <a:cubicBezTo>
                  <a:pt x="151851" y="374189"/>
                  <a:pt x="179926" y="385828"/>
                  <a:pt x="209550" y="389307"/>
                </a:cubicBezTo>
                <a:lnTo>
                  <a:pt x="209550" y="428625"/>
                </a:lnTo>
                <a:lnTo>
                  <a:pt x="195263" y="428625"/>
                </a:lnTo>
                <a:cubicBezTo>
                  <a:pt x="187372" y="428625"/>
                  <a:pt x="180975" y="435022"/>
                  <a:pt x="180975" y="442913"/>
                </a:cubicBezTo>
                <a:cubicBezTo>
                  <a:pt x="180975" y="450803"/>
                  <a:pt x="187372" y="457200"/>
                  <a:pt x="195263" y="457200"/>
                </a:cubicBezTo>
                <a:lnTo>
                  <a:pt x="261938" y="457200"/>
                </a:lnTo>
                <a:cubicBezTo>
                  <a:pt x="269828" y="457200"/>
                  <a:pt x="276225" y="450803"/>
                  <a:pt x="276225" y="442913"/>
                </a:cubicBezTo>
                <a:cubicBezTo>
                  <a:pt x="276225" y="435022"/>
                  <a:pt x="269828" y="428625"/>
                  <a:pt x="261938" y="428625"/>
                </a:cubicBezTo>
                <a:lnTo>
                  <a:pt x="247650" y="428625"/>
                </a:lnTo>
                <a:lnTo>
                  <a:pt x="247650" y="389307"/>
                </a:lnTo>
                <a:cubicBezTo>
                  <a:pt x="277274" y="385828"/>
                  <a:pt x="305349" y="374189"/>
                  <a:pt x="328744" y="355685"/>
                </a:cubicBezTo>
                <a:lnTo>
                  <a:pt x="356569" y="383512"/>
                </a:lnTo>
                <a:lnTo>
                  <a:pt x="347085" y="394710"/>
                </a:lnTo>
                <a:cubicBezTo>
                  <a:pt x="341506" y="400290"/>
                  <a:pt x="341506" y="409336"/>
                  <a:pt x="347086" y="414915"/>
                </a:cubicBezTo>
                <a:cubicBezTo>
                  <a:pt x="352666" y="420494"/>
                  <a:pt x="361712" y="420494"/>
                  <a:pt x="367291" y="414915"/>
                </a:cubicBezTo>
                <a:lnTo>
                  <a:pt x="414915" y="367290"/>
                </a:lnTo>
                <a:cubicBezTo>
                  <a:pt x="420500" y="361716"/>
                  <a:pt x="420510" y="352670"/>
                  <a:pt x="414937" y="347084"/>
                </a:cubicBezTo>
                <a:cubicBezTo>
                  <a:pt x="409363" y="341499"/>
                  <a:pt x="400317" y="341489"/>
                  <a:pt x="394731" y="347063"/>
                </a:cubicBezTo>
                <a:cubicBezTo>
                  <a:pt x="394724" y="347071"/>
                  <a:pt x="394716" y="347079"/>
                  <a:pt x="394709" y="347085"/>
                </a:cubicBezTo>
                <a:lnTo>
                  <a:pt x="383509" y="356569"/>
                </a:lnTo>
                <a:lnTo>
                  <a:pt x="355684" y="328743"/>
                </a:lnTo>
                <a:cubicBezTo>
                  <a:pt x="374189" y="305349"/>
                  <a:pt x="385830" y="277274"/>
                  <a:pt x="389308" y="247650"/>
                </a:cubicBezTo>
                <a:lnTo>
                  <a:pt x="428625" y="247650"/>
                </a:lnTo>
                <a:lnTo>
                  <a:pt x="428625" y="261938"/>
                </a:lnTo>
                <a:cubicBezTo>
                  <a:pt x="428625" y="269828"/>
                  <a:pt x="435022" y="276225"/>
                  <a:pt x="442913" y="276225"/>
                </a:cubicBezTo>
                <a:cubicBezTo>
                  <a:pt x="450803" y="276225"/>
                  <a:pt x="457200" y="269828"/>
                  <a:pt x="457200" y="261938"/>
                </a:cubicBezTo>
                <a:lnTo>
                  <a:pt x="457200" y="195263"/>
                </a:lnTo>
                <a:cubicBezTo>
                  <a:pt x="457201" y="187373"/>
                  <a:pt x="450807" y="180976"/>
                  <a:pt x="442917" y="180975"/>
                </a:cubicBezTo>
                <a:cubicBezTo>
                  <a:pt x="442915" y="180975"/>
                  <a:pt x="442914" y="180975"/>
                  <a:pt x="442913" y="180975"/>
                </a:cubicBezTo>
                <a:close/>
                <a:moveTo>
                  <a:pt x="176213" y="190500"/>
                </a:moveTo>
                <a:cubicBezTo>
                  <a:pt x="157801" y="190500"/>
                  <a:pt x="142875" y="175574"/>
                  <a:pt x="142875" y="157163"/>
                </a:cubicBezTo>
                <a:cubicBezTo>
                  <a:pt x="142875" y="138751"/>
                  <a:pt x="157801" y="123825"/>
                  <a:pt x="176213" y="123825"/>
                </a:cubicBezTo>
                <a:cubicBezTo>
                  <a:pt x="194624" y="123825"/>
                  <a:pt x="209550" y="138751"/>
                  <a:pt x="209550" y="157163"/>
                </a:cubicBezTo>
                <a:cubicBezTo>
                  <a:pt x="209550" y="175574"/>
                  <a:pt x="194625" y="190500"/>
                  <a:pt x="176213" y="190500"/>
                </a:cubicBezTo>
                <a:cubicBezTo>
                  <a:pt x="176213" y="190500"/>
                  <a:pt x="176213" y="190500"/>
                  <a:pt x="176213" y="190500"/>
                </a:cubicBezTo>
                <a:close/>
                <a:moveTo>
                  <a:pt x="285750" y="314325"/>
                </a:moveTo>
                <a:cubicBezTo>
                  <a:pt x="275229" y="314325"/>
                  <a:pt x="266700" y="305796"/>
                  <a:pt x="266700" y="295275"/>
                </a:cubicBezTo>
                <a:cubicBezTo>
                  <a:pt x="266700" y="284754"/>
                  <a:pt x="275229" y="276225"/>
                  <a:pt x="285750" y="276225"/>
                </a:cubicBezTo>
                <a:cubicBezTo>
                  <a:pt x="296271" y="276225"/>
                  <a:pt x="304800" y="284754"/>
                  <a:pt x="304800" y="295275"/>
                </a:cubicBezTo>
                <a:cubicBezTo>
                  <a:pt x="304800" y="305796"/>
                  <a:pt x="296271" y="314325"/>
                  <a:pt x="285750" y="31432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6807200" y="4604327"/>
            <a:ext cx="152861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Kaggle Link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/>
          <p:cNvSpPr txBox="1"/>
          <p:nvPr>
            <p:ph type="title"/>
          </p:nvPr>
        </p:nvSpPr>
        <p:spPr>
          <a:xfrm>
            <a:off x="3048003" y="90300"/>
            <a:ext cx="3048000" cy="4854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Libraries</a:t>
            </a:r>
            <a:r>
              <a:rPr lang="en-US"/>
              <a:t> Used:</a:t>
            </a:r>
            <a:endParaRPr/>
          </a:p>
        </p:txBody>
      </p:sp>
      <p:sp>
        <p:nvSpPr>
          <p:cNvPr id="135" name="Google Shape;135;p3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6" name="Google Shape;13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5517" y="639524"/>
            <a:ext cx="6612965" cy="3864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/>
          <p:nvPr>
            <p:ph type="ctrTitle"/>
          </p:nvPr>
        </p:nvSpPr>
        <p:spPr>
          <a:xfrm>
            <a:off x="230909" y="2025550"/>
            <a:ext cx="8857673" cy="6558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4000"/>
              <a:t>1. Research Question / Problem Statement</a:t>
            </a:r>
            <a:endParaRPr sz="4000"/>
          </a:p>
        </p:txBody>
      </p:sp>
      <p:sp>
        <p:nvSpPr>
          <p:cNvPr id="142" name="Google Shape;142;p4"/>
          <p:cNvSpPr txBox="1"/>
          <p:nvPr>
            <p:ph idx="1" type="subTitle"/>
          </p:nvPr>
        </p:nvSpPr>
        <p:spPr>
          <a:xfrm>
            <a:off x="514800" y="2702092"/>
            <a:ext cx="8114400" cy="4158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The Central Question:</a:t>
            </a:r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1159164" y="3449782"/>
            <a:ext cx="707043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rPr>
              <a:t>How and when were Fourier-transform–based methods (e.g., X-ray crystallography) used in the COVID-19 literature to determine the SARS-CoV-2 spike protein’s structure and function?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 txBox="1"/>
          <p:nvPr>
            <p:ph idx="1" type="body"/>
          </p:nvPr>
        </p:nvSpPr>
        <p:spPr>
          <a:xfrm>
            <a:off x="1291100" y="2161800"/>
            <a:ext cx="6561600" cy="8199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</a:pPr>
            <a:r>
              <a:rPr lang="en-US" sz="2000"/>
              <a:t>The worst potential bio-terrorist is nature itself. ”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3200"/>
              <a:buNone/>
            </a:pPr>
            <a:r>
              <a:rPr lang="en-US" sz="2000"/>
              <a:t>Why This Matters: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3200"/>
              <a:buChar char="▸"/>
            </a:pPr>
            <a:r>
              <a:rPr lang="en-US" sz="2000"/>
              <a:t>Identifying the "textual footprint" of these structural-biology methods shows how physical/math techniques contributed to biological discovery during the pandemic.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3200"/>
              <a:buChar char="▸"/>
            </a:pPr>
            <a:r>
              <a:rPr lang="en-US" sz="2000"/>
              <a:t>Helps researchers and historians quickly find method-specific studies, accelerating future research.</a:t>
            </a:r>
            <a:endParaRPr sz="2000"/>
          </a:p>
        </p:txBody>
      </p:sp>
      <p:sp>
        <p:nvSpPr>
          <p:cNvPr id="149" name="Google Shape;149;p5"/>
          <p:cNvSpPr txBox="1"/>
          <p:nvPr>
            <p:ph idx="12" type="sldNum"/>
          </p:nvPr>
        </p:nvSpPr>
        <p:spPr>
          <a:xfrm>
            <a:off x="4297650" y="4673651"/>
            <a:ext cx="548700" cy="3936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5"/>
          <p:cNvSpPr txBox="1"/>
          <p:nvPr/>
        </p:nvSpPr>
        <p:spPr>
          <a:xfrm>
            <a:off x="7036100" y="1145650"/>
            <a:ext cx="7656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rPr>
              <a:t>-  </a:t>
            </a:r>
            <a:r>
              <a:rPr lang="en-US" sz="900">
                <a:solidFill>
                  <a:schemeClr val="lt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rPr>
              <a:t>Dr. Fauci</a:t>
            </a:r>
            <a:endParaRPr sz="900">
              <a:solidFill>
                <a:schemeClr val="lt1"/>
              </a:solidFill>
              <a:latin typeface="Encode Sans Semi Condensed Light"/>
              <a:ea typeface="Encode Sans Semi Condensed Light"/>
              <a:cs typeface="Encode Sans Semi Condensed Light"/>
              <a:sym typeface="Encode Sans Semi Condensed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 txBox="1"/>
          <p:nvPr>
            <p:ph type="title"/>
          </p:nvPr>
        </p:nvSpPr>
        <p:spPr>
          <a:xfrm>
            <a:off x="514800" y="809150"/>
            <a:ext cx="6373800" cy="6651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My Hypothesis:</a:t>
            </a:r>
            <a:endParaRPr/>
          </a:p>
        </p:txBody>
      </p:sp>
      <p:sp>
        <p:nvSpPr>
          <p:cNvPr id="156" name="Google Shape;156;p6"/>
          <p:cNvSpPr txBox="1"/>
          <p:nvPr>
            <p:ph idx="1" type="body"/>
          </p:nvPr>
        </p:nvSpPr>
        <p:spPr>
          <a:xfrm>
            <a:off x="514800" y="1582772"/>
            <a:ext cx="6373800" cy="28899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Char char="▸"/>
            </a:pPr>
            <a:r>
              <a:rPr lang="en-US"/>
              <a:t>Papers discussing spike-protein structure using Fourier/X-ray methods use a distinct vocabulary and appear in an identifiable temporal cluster early in the pandemic.</a:t>
            </a:r>
            <a:endParaRPr/>
          </a:p>
        </p:txBody>
      </p:sp>
      <p:sp>
        <p:nvSpPr>
          <p:cNvPr id="157" name="Google Shape;157;p6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 txBox="1"/>
          <p:nvPr>
            <p:ph idx="1" type="body"/>
          </p:nvPr>
        </p:nvSpPr>
        <p:spPr>
          <a:xfrm>
            <a:off x="101601" y="1582775"/>
            <a:ext cx="2720108" cy="29604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-US" sz="1800"/>
              <a:t>Data Source: CORD-19 csv file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▸"/>
            </a:pPr>
            <a:r>
              <a:rPr b="1" lang="en-US" sz="1800"/>
              <a:t>A massive collection of scientific papers on COVID-19.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▸"/>
            </a:pPr>
            <a:r>
              <a:rPr b="1" lang="en-US" sz="1800"/>
              <a:t>Starting with the metadata.csv file (~691,000 papers).</a:t>
            </a:r>
            <a:endParaRPr b="1" sz="1800"/>
          </a:p>
        </p:txBody>
      </p:sp>
      <p:sp>
        <p:nvSpPr>
          <p:cNvPr id="163" name="Google Shape;163;p7"/>
          <p:cNvSpPr txBox="1"/>
          <p:nvPr>
            <p:ph type="title"/>
          </p:nvPr>
        </p:nvSpPr>
        <p:spPr>
          <a:xfrm>
            <a:off x="235527" y="809150"/>
            <a:ext cx="8774546" cy="6651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Methodology / Approach (Part 1): </a:t>
            </a:r>
            <a:r>
              <a:rPr lang="en-US" sz="2000"/>
              <a:t>Our Toolkit &amp; Data Pipeline</a:t>
            </a:r>
            <a:endParaRPr/>
          </a:p>
        </p:txBody>
      </p:sp>
      <p:sp>
        <p:nvSpPr>
          <p:cNvPr id="164" name="Google Shape;164;p7"/>
          <p:cNvSpPr txBox="1"/>
          <p:nvPr>
            <p:ph idx="2" type="body"/>
          </p:nvPr>
        </p:nvSpPr>
        <p:spPr>
          <a:xfrm>
            <a:off x="2782379" y="1586132"/>
            <a:ext cx="2886363" cy="29604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-US" sz="1800"/>
              <a:t>Technical Stack: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▸"/>
            </a:pPr>
            <a:r>
              <a:rPr b="1" lang="en-US" sz="1800"/>
              <a:t>Python for data wrangling and analysis.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▸"/>
            </a:pPr>
            <a:r>
              <a:rPr b="1" lang="en-US" sz="1800"/>
              <a:t>Libraries: Pandas, Scikit-learn, NLTK, Matplotlib/Seaborn.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▸"/>
            </a:pPr>
            <a:r>
              <a:rPr b="1" lang="en-US" sz="1800"/>
              <a:t>NLP &amp; Machine Learning for text classification.</a:t>
            </a:r>
            <a:endParaRPr/>
          </a:p>
        </p:txBody>
      </p:sp>
      <p:sp>
        <p:nvSpPr>
          <p:cNvPr id="165" name="Google Shape;165;p7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p7"/>
          <p:cNvSpPr txBox="1"/>
          <p:nvPr/>
        </p:nvSpPr>
        <p:spPr>
          <a:xfrm>
            <a:off x="5710306" y="1582775"/>
            <a:ext cx="3433694" cy="29604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Encode Sans Semi Condensed Light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rPr>
              <a:t>Data Processing Pipeline:</a:t>
            </a:r>
            <a:endParaRPr/>
          </a:p>
          <a:p>
            <a:pPr indent="-285750" lvl="0" marL="28575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Encode Sans Semi Condensed Light"/>
              <a:buChar char="▸"/>
            </a:pPr>
            <a:r>
              <a:rPr b="1" i="0" lang="en-US" sz="1400" u="none" cap="none" strike="noStrike">
                <a:solidFill>
                  <a:schemeClr val="lt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rPr>
              <a:t>Load Data: Ingested the CORD-19 metadata.</a:t>
            </a:r>
            <a:endParaRPr/>
          </a:p>
          <a:p>
            <a:pPr indent="-285750" lvl="0" marL="28575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Encode Sans Semi Condensed Light"/>
              <a:buChar char="▸"/>
            </a:pPr>
            <a:r>
              <a:rPr b="1" i="0" lang="en-US" sz="1400" u="none" cap="none" strike="noStrike">
                <a:solidFill>
                  <a:schemeClr val="lt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rPr>
              <a:t>Filter &amp; Label:</a:t>
            </a:r>
            <a:endParaRPr/>
          </a:p>
          <a:p>
            <a:pPr indent="-285750" lvl="0" marL="28575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Encode Sans Semi Condensed Light"/>
              <a:buChar char="▸"/>
            </a:pPr>
            <a:r>
              <a:rPr b="1" i="0" lang="en-US" sz="1400" u="none" cap="none" strike="noStrike">
                <a:solidFill>
                  <a:schemeClr val="lt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rPr>
              <a:t>Isolated papers mentioning "spike protein".</a:t>
            </a:r>
            <a:endParaRPr/>
          </a:p>
          <a:p>
            <a:pPr indent="-285750" lvl="0" marL="28575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Encode Sans Semi Condensed Light"/>
              <a:buChar char="▸"/>
            </a:pPr>
            <a:r>
              <a:rPr b="1" i="0" lang="en-US" sz="1400" u="none" cap="none" strike="noStrike">
                <a:solidFill>
                  <a:schemeClr val="lt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rPr>
              <a:t>Created a binary label: structural_method = 1 for papers also containing keywords like "fourier", "x-ray crystallography", "diffraction", "electron density".</a:t>
            </a:r>
            <a:endParaRPr/>
          </a:p>
          <a:p>
            <a:pPr indent="-285750" lvl="0" marL="28575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Encode Sans Semi Condensed Light"/>
              <a:buChar char="▸"/>
            </a:pPr>
            <a:r>
              <a:rPr b="1" i="0" lang="en-US" sz="1400" u="none" cap="none" strike="noStrike">
                <a:solidFill>
                  <a:schemeClr val="lt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rPr>
              <a:t>Exploratory Data Analysis (EDA): Analyzed data distribution and missing values.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 txBox="1"/>
          <p:nvPr>
            <p:ph type="title"/>
          </p:nvPr>
        </p:nvSpPr>
        <p:spPr>
          <a:xfrm>
            <a:off x="263236" y="809150"/>
            <a:ext cx="6625364" cy="6651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Methodology / Approach (Part 2)</a:t>
            </a:r>
            <a:endParaRPr/>
          </a:p>
        </p:txBody>
      </p:sp>
      <p:sp>
        <p:nvSpPr>
          <p:cNvPr id="172" name="Google Shape;172;p8"/>
          <p:cNvSpPr txBox="1"/>
          <p:nvPr>
            <p:ph idx="1" type="body"/>
          </p:nvPr>
        </p:nvSpPr>
        <p:spPr>
          <a:xfrm>
            <a:off x="73891" y="1582775"/>
            <a:ext cx="2930309" cy="29604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Building the Classifier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▸"/>
            </a:pPr>
            <a:r>
              <a:rPr b="1" lang="en-US"/>
              <a:t>Train an NLP model to automatically identify "structural method" papers based on their text.</a:t>
            </a:r>
            <a:endParaRPr/>
          </a:p>
        </p:txBody>
      </p:sp>
      <p:sp>
        <p:nvSpPr>
          <p:cNvPr id="173" name="Google Shape;173;p8"/>
          <p:cNvSpPr txBox="1"/>
          <p:nvPr>
            <p:ph idx="2" type="body"/>
          </p:nvPr>
        </p:nvSpPr>
        <p:spPr>
          <a:xfrm>
            <a:off x="3004200" y="1582774"/>
            <a:ext cx="5830381" cy="3349443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The Plan: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▸"/>
            </a:pPr>
            <a:r>
              <a:rPr lang="en-US" sz="1600"/>
              <a:t>Feature Engineering: Use Tf-idf Vectorizer to convert paper abstracts and titles into a numerical matrix based on word importance (Equation above).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▸"/>
            </a:pPr>
            <a:r>
              <a:rPr lang="en-US" sz="1600"/>
              <a:t>Model Training: Implement and compare classifiers: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▸"/>
            </a:pPr>
            <a:r>
              <a:rPr lang="en-US" sz="1600"/>
              <a:t>Logistic Regression (interpretable, good baseline)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▸"/>
            </a:pPr>
            <a:r>
              <a:rPr lang="en-US" sz="1600"/>
              <a:t>Random Forest (robust, handles non-linearity)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▸"/>
            </a:pPr>
            <a:r>
              <a:rPr lang="en-US" sz="1600"/>
              <a:t>Evaluation: Assess model performance using standard metrics: Precision &amp; Recall (Target: &gt;0.75), and Confusion Matrix</a:t>
            </a:r>
            <a:endParaRPr sz="1600"/>
          </a:p>
        </p:txBody>
      </p:sp>
      <p:sp>
        <p:nvSpPr>
          <p:cNvPr id="174" name="Google Shape;174;p8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5" name="Google Shape;17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0972" y="923496"/>
            <a:ext cx="2982112" cy="436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"/>
          <p:cNvSpPr txBox="1"/>
          <p:nvPr>
            <p:ph type="title"/>
          </p:nvPr>
        </p:nvSpPr>
        <p:spPr>
          <a:xfrm>
            <a:off x="514800" y="809150"/>
            <a:ext cx="6373800" cy="6651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Current Findings / Results (Part 1):</a:t>
            </a:r>
            <a:endParaRPr/>
          </a:p>
        </p:txBody>
      </p:sp>
      <p:sp>
        <p:nvSpPr>
          <p:cNvPr id="181" name="Google Shape;181;p9"/>
          <p:cNvSpPr txBox="1"/>
          <p:nvPr>
            <p:ph idx="1" type="body"/>
          </p:nvPr>
        </p:nvSpPr>
        <p:spPr>
          <a:xfrm>
            <a:off x="36950" y="1257300"/>
            <a:ext cx="5117100" cy="38517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-260350" lvl="0" marL="28575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▸"/>
            </a:pPr>
            <a:r>
              <a:rPr lang="en-US" sz="1000"/>
              <a:t>Data Overview:</a:t>
            </a:r>
            <a:endParaRPr sz="2000"/>
          </a:p>
          <a:p>
            <a:pPr indent="-2603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</a:pPr>
            <a:r>
              <a:rPr lang="en-US" sz="1000"/>
              <a:t>Total CORD-19 Papers: ~691,000</a:t>
            </a:r>
            <a:endParaRPr sz="2000"/>
          </a:p>
          <a:p>
            <a:pPr indent="-2603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</a:pPr>
            <a:r>
              <a:rPr lang="en-US" sz="1000"/>
              <a:t>Spike Protein-Related Papers: 10,603</a:t>
            </a:r>
            <a:endParaRPr sz="2000"/>
          </a:p>
          <a:p>
            <a:pPr indent="-2603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</a:pPr>
            <a:r>
              <a:rPr lang="en-US" sz="1000"/>
              <a:t>"Structural Method" Papers (Our Target Class): 250</a:t>
            </a:r>
            <a:endParaRPr sz="2000"/>
          </a:p>
          <a:p>
            <a:pPr indent="-260350" lvl="0" marL="28575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▸"/>
            </a:pPr>
            <a:r>
              <a:rPr lang="en-US" sz="1000"/>
              <a:t>This is a highly imbalanced dataset, which is a key challenge.</a:t>
            </a:r>
            <a:endParaRPr sz="2000"/>
          </a:p>
          <a:p>
            <a:pPr indent="-260350" lvl="0" marL="28575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▸"/>
            </a:pPr>
            <a:r>
              <a:rPr lang="en-US" sz="1000"/>
              <a:t>Initial EDA - Missing Data:</a:t>
            </a:r>
            <a:endParaRPr sz="2000"/>
          </a:p>
          <a:p>
            <a:pPr indent="-2603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</a:pPr>
            <a:r>
              <a:rPr lang="en-US" sz="1000"/>
              <a:t>(Visualization here: Bar chart from the notebook showing missing data percentages)</a:t>
            </a:r>
            <a:endParaRPr sz="2000"/>
          </a:p>
          <a:p>
            <a:pPr indent="-2603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</a:pPr>
            <a:r>
              <a:rPr lang="en-US" sz="1000"/>
              <a:t>Critical columns like publish_time have very few missing values (&lt;1%), enabling reliable temporal analysis.</a:t>
            </a:r>
            <a:endParaRPr sz="2000"/>
          </a:p>
          <a:p>
            <a:pPr indent="-2603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</a:pPr>
            <a:r>
              <a:rPr lang="en-US" sz="1000"/>
              <a:t>Full-text JSON paths are often missing, so I relied on abstracts and titles for this phase.</a:t>
            </a:r>
            <a:endParaRPr sz="1000"/>
          </a:p>
        </p:txBody>
      </p:sp>
      <p:sp>
        <p:nvSpPr>
          <p:cNvPr id="182" name="Google Shape;182;p9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3" name="Google Shape;1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1799" y="1156949"/>
            <a:ext cx="1004350" cy="988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7241" y="2909455"/>
            <a:ext cx="3718290" cy="2157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95757" y="1871867"/>
            <a:ext cx="3718813" cy="765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"/>
          <p:cNvSpPr txBox="1"/>
          <p:nvPr>
            <p:ph type="title"/>
          </p:nvPr>
        </p:nvSpPr>
        <p:spPr>
          <a:xfrm>
            <a:off x="514800" y="809150"/>
            <a:ext cx="6373800" cy="6651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Current Findings / Results (Part 2):</a:t>
            </a:r>
            <a:endParaRPr/>
          </a:p>
        </p:txBody>
      </p:sp>
      <p:sp>
        <p:nvSpPr>
          <p:cNvPr id="191" name="Google Shape;191;p10"/>
          <p:cNvSpPr txBox="1"/>
          <p:nvPr>
            <p:ph idx="1" type="body"/>
          </p:nvPr>
        </p:nvSpPr>
        <p:spPr>
          <a:xfrm>
            <a:off x="36950" y="1417775"/>
            <a:ext cx="5627700" cy="3649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-273050" lvl="0" marL="28575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200"/>
              <a:buChar char="▸"/>
            </a:pPr>
            <a:r>
              <a:rPr lang="en-US" sz="1000"/>
              <a:t>Temporal Cluster Hypothesis:</a:t>
            </a:r>
            <a:endParaRPr sz="2200"/>
          </a:p>
          <a:p>
            <a:pPr indent="-2730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▹"/>
            </a:pPr>
            <a:r>
              <a:rPr lang="en-US" sz="1000"/>
              <a:t>*(Visualization: A simple line chart showing the count of structural_method papers per month in 2020-2021)*</a:t>
            </a:r>
            <a:endParaRPr sz="2200"/>
          </a:p>
          <a:p>
            <a:pPr indent="-2730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▹"/>
            </a:pPr>
            <a:r>
              <a:rPr lang="en-US" sz="1000"/>
              <a:t>Finding: A clear cluster of structural method papers appeared in early 2020, coinciding with the initial race to solve the spike protein structure.</a:t>
            </a:r>
            <a:endParaRPr sz="2200"/>
          </a:p>
          <a:p>
            <a:pPr indent="-2730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▹"/>
            </a:pPr>
            <a:r>
              <a:rPr lang="en-US" sz="1000"/>
              <a:t>This supports the first part of our hypothesis.</a:t>
            </a:r>
            <a:endParaRPr sz="2200"/>
          </a:p>
          <a:p>
            <a:pPr indent="-273050" lvl="0" marL="28575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200"/>
              <a:buChar char="▸"/>
            </a:pPr>
            <a:r>
              <a:rPr lang="en-US" sz="1000"/>
              <a:t>Distinct Vocabulary:</a:t>
            </a:r>
            <a:endParaRPr sz="2200"/>
          </a:p>
          <a:p>
            <a:pPr indent="-2730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▹"/>
            </a:pPr>
            <a:r>
              <a:rPr lang="en-US" sz="1000"/>
              <a:t>(Visualization: A word cloud generated from the abstracts of the 250 structural_method papers)</a:t>
            </a:r>
            <a:endParaRPr sz="2200"/>
          </a:p>
          <a:p>
            <a:pPr indent="-2730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▹"/>
            </a:pPr>
            <a:r>
              <a:rPr lang="en-US" sz="1000"/>
              <a:t>Finding: The model is already identifying highly relevant terms like "resolution", "density", "crystal", and "cryo-em".</a:t>
            </a:r>
            <a:endParaRPr sz="2200"/>
          </a:p>
          <a:p>
            <a:pPr indent="-2730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▹"/>
            </a:pPr>
            <a:r>
              <a:rPr lang="en-US" sz="1000"/>
              <a:t>This provides initial evidence for the "distinct vocabulary" part of our hypothesis.</a:t>
            </a:r>
            <a:endParaRPr sz="1000"/>
          </a:p>
        </p:txBody>
      </p:sp>
      <p:sp>
        <p:nvSpPr>
          <p:cNvPr id="192" name="Google Shape;192;p10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3" name="Google Shape;1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1799" y="1156949"/>
            <a:ext cx="1004350" cy="988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3078" y="1561833"/>
            <a:ext cx="3024523" cy="1499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3078" y="3085916"/>
            <a:ext cx="3024523" cy="1981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"/>
          <p:cNvSpPr txBox="1"/>
          <p:nvPr>
            <p:ph type="title"/>
          </p:nvPr>
        </p:nvSpPr>
        <p:spPr>
          <a:xfrm>
            <a:off x="272473" y="809150"/>
            <a:ext cx="6616127" cy="6651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Challenges Encountered</a:t>
            </a:r>
            <a:endParaRPr/>
          </a:p>
        </p:txBody>
      </p:sp>
      <p:sp>
        <p:nvSpPr>
          <p:cNvPr id="201" name="Google Shape;201;p11"/>
          <p:cNvSpPr txBox="1"/>
          <p:nvPr>
            <p:ph idx="1" type="body"/>
          </p:nvPr>
        </p:nvSpPr>
        <p:spPr>
          <a:xfrm>
            <a:off x="-1" y="1582775"/>
            <a:ext cx="4433456" cy="3220134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▸"/>
            </a:pPr>
            <a:r>
              <a:rPr lang="en-US" sz="1600"/>
              <a:t>Class Imbalance:</a:t>
            </a:r>
            <a:endParaRPr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</a:pPr>
            <a:r>
              <a:rPr lang="en-US" sz="1600"/>
              <a:t>Problem: Only 250 positive examples vs. ~10,353 negative ones (a 2.4% minority class). This can bias models towards predicting the majority class.</a:t>
            </a:r>
            <a:endParaRPr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</a:pPr>
            <a:r>
              <a:rPr lang="en-US" sz="1600"/>
              <a:t>Mitigation: Used techniques like SMOTE (Synthetic Minority Over-sampling Technique) or class weights in scikit-learn.</a:t>
            </a:r>
            <a:endParaRPr/>
          </a:p>
        </p:txBody>
      </p:sp>
      <p:sp>
        <p:nvSpPr>
          <p:cNvPr id="202" name="Google Shape;202;p11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3" name="Google Shape;203;p11"/>
          <p:cNvSpPr txBox="1"/>
          <p:nvPr/>
        </p:nvSpPr>
        <p:spPr>
          <a:xfrm>
            <a:off x="4285672" y="1582775"/>
            <a:ext cx="4747492" cy="3220134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Encode Sans Semi Condensed Light"/>
              <a:buChar char="▸"/>
            </a:pPr>
            <a:r>
              <a:rPr b="0" i="0" lang="en-US" sz="1600" u="none" cap="none" strike="noStrike">
                <a:solidFill>
                  <a:schemeClr val="lt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rPr>
              <a:t>Text Preprocessing Complexity:</a:t>
            </a:r>
            <a:endParaRPr/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Encode Sans Semi Condensed Light"/>
              <a:buChar char="▹"/>
            </a:pPr>
            <a:r>
              <a:rPr b="0" i="0" lang="en-US" sz="1600" u="none" cap="none" strike="noStrike">
                <a:solidFill>
                  <a:schemeClr val="lt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rPr>
              <a:t>Problem: Scientific text contains complex terminology, abbreviations, and symbols that require careful cleaning and normalization.</a:t>
            </a:r>
            <a:endParaRPr/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Encode Sans Semi Condensed Light"/>
              <a:buChar char="▹"/>
            </a:pPr>
            <a:r>
              <a:rPr b="0" i="0" lang="en-US" sz="1600" u="none" cap="none" strike="noStrike">
                <a:solidFill>
                  <a:schemeClr val="lt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rPr>
              <a:t>Mitigation: Leveraged NLTK for stopword removal and tokenization, tailored for scientific corpus.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"/>
          <p:cNvSpPr txBox="1"/>
          <p:nvPr>
            <p:ph type="title"/>
          </p:nvPr>
        </p:nvSpPr>
        <p:spPr>
          <a:xfrm>
            <a:off x="175491" y="809150"/>
            <a:ext cx="6713109" cy="6651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Conclusion &amp; Future Directions</a:t>
            </a:r>
            <a:endParaRPr/>
          </a:p>
        </p:txBody>
      </p:sp>
      <p:sp>
        <p:nvSpPr>
          <p:cNvPr id="209" name="Google Shape;209;p12"/>
          <p:cNvSpPr txBox="1"/>
          <p:nvPr>
            <p:ph idx="1" type="body"/>
          </p:nvPr>
        </p:nvSpPr>
        <p:spPr>
          <a:xfrm>
            <a:off x="69274" y="1582775"/>
            <a:ext cx="2761672" cy="3016934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n-US" sz="1200"/>
              <a:t>Summary of Insights:</a:t>
            </a:r>
            <a:endParaRPr/>
          </a:p>
          <a:p>
            <a:pPr indent="-171450" lvl="0" marL="17145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▸"/>
            </a:pPr>
            <a:r>
              <a:rPr lang="en-US" sz="1200"/>
              <a:t>We successfully built a filtered dataset from CORD-19 and created a labeled subset for our classification task.</a:t>
            </a:r>
            <a:endParaRPr/>
          </a:p>
          <a:p>
            <a:pPr indent="-171450" lvl="0" marL="17145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▸"/>
            </a:pPr>
            <a:r>
              <a:rPr lang="en-US" sz="1200"/>
              <a:t>Initial EDA supports our hypothesis: structural method papers have a unique textual signature and emerged as a temporal cluster early in the pandemic.</a:t>
            </a:r>
            <a:endParaRPr/>
          </a:p>
          <a:p>
            <a:pPr indent="-171450" lvl="0" marL="17145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▸"/>
            </a:pPr>
            <a:r>
              <a:rPr lang="en-US" sz="1200"/>
              <a:t>The foundation for a performant NLP classifier is in place.</a:t>
            </a:r>
            <a:endParaRPr/>
          </a:p>
        </p:txBody>
      </p:sp>
      <p:sp>
        <p:nvSpPr>
          <p:cNvPr id="210" name="Google Shape;210;p12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" name="Google Shape;211;p12"/>
          <p:cNvSpPr txBox="1"/>
          <p:nvPr/>
        </p:nvSpPr>
        <p:spPr>
          <a:xfrm>
            <a:off x="3038765" y="1582775"/>
            <a:ext cx="2761672" cy="3016934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Encode Sans Semi Condensed Light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rPr>
              <a:t>Immediate Next Steps (Before Final):</a:t>
            </a:r>
            <a:endParaRPr/>
          </a:p>
          <a:p>
            <a:pPr indent="-171450" lvl="0" marL="17145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Encode Sans Semi Condensed Light"/>
              <a:buChar char="▸"/>
            </a:pPr>
            <a:r>
              <a:rPr b="0" i="0" lang="en-US" sz="1200" u="none" cap="none" strike="noStrike">
                <a:solidFill>
                  <a:schemeClr val="lt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rPr>
              <a:t>Complete Model Training: Run the Logistic Regression and Random Forest models on the prepared TF-IDF features.</a:t>
            </a:r>
            <a:endParaRPr/>
          </a:p>
          <a:p>
            <a:pPr indent="-171450" lvl="0" marL="17145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Encode Sans Semi Condensed Light"/>
              <a:buChar char="▸"/>
            </a:pPr>
            <a:r>
              <a:rPr b="0" i="0" lang="en-US" sz="1200" u="none" cap="none" strike="noStrike">
                <a:solidFill>
                  <a:schemeClr val="lt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rPr>
              <a:t>Tackle Class Imbalance: Implement and evaluate strategies (SMOTE, class weights) to improve model recall on the minority class.</a:t>
            </a:r>
            <a:endParaRPr/>
          </a:p>
          <a:p>
            <a:pPr indent="-171450" lvl="0" marL="17145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Encode Sans Semi Condensed Light"/>
              <a:buChar char="▸"/>
            </a:pPr>
            <a:r>
              <a:rPr b="0" i="0" lang="en-US" sz="1200" u="none" cap="none" strike="noStrike">
                <a:solidFill>
                  <a:schemeClr val="lt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rPr>
              <a:t>Hyperparameter Tuning: Use GridSearchCV to optimize model performance and aim for our target Precision/Recall &gt; 0.75.</a:t>
            </a:r>
            <a:endParaRPr/>
          </a:p>
        </p:txBody>
      </p:sp>
      <p:sp>
        <p:nvSpPr>
          <p:cNvPr id="212" name="Google Shape;212;p12"/>
          <p:cNvSpPr txBox="1"/>
          <p:nvPr/>
        </p:nvSpPr>
        <p:spPr>
          <a:xfrm>
            <a:off x="5917062" y="1582775"/>
            <a:ext cx="2761672" cy="3016934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Encode Sans Semi Condensed Light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rPr>
              <a:t>Longer-Term Vision:</a:t>
            </a:r>
            <a:endParaRPr/>
          </a:p>
          <a:p>
            <a:pPr indent="-171450" lvl="0" marL="17145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Encode Sans Semi Condensed Light"/>
              <a:buChar char="▸"/>
            </a:pPr>
            <a:r>
              <a:rPr b="0" i="0" lang="en-US" sz="1200" u="none" cap="none" strike="noStrike">
                <a:solidFill>
                  <a:schemeClr val="lt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rPr>
              <a:t>Incorporate any available full-text data for a deeper analysis.</a:t>
            </a:r>
            <a:endParaRPr/>
          </a:p>
          <a:p>
            <a:pPr indent="-171450" lvl="0" marL="17145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Encode Sans Semi Condensed Light"/>
              <a:buChar char="▸"/>
            </a:pPr>
            <a:r>
              <a:rPr b="0" i="0" lang="en-US" sz="1200" u="none" cap="none" strike="noStrike">
                <a:solidFill>
                  <a:schemeClr val="lt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rPr>
              <a:t>Perform a more sophisticated temporal trend analysis.</a:t>
            </a:r>
            <a:endParaRPr b="0" i="0" sz="1200" u="none" cap="none" strike="noStrike">
              <a:solidFill>
                <a:schemeClr val="lt1"/>
              </a:solidFill>
              <a:latin typeface="Encode Sans Semi Condensed Light"/>
              <a:ea typeface="Encode Sans Semi Condensed Light"/>
              <a:cs typeface="Encode Sans Semi Condensed Light"/>
              <a:sym typeface="Encode Sans Semi Condensed Light"/>
            </a:endParaRPr>
          </a:p>
          <a:p>
            <a:pPr indent="-120650" lvl="0" marL="17145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Encode Sans Semi Condensed Light"/>
              <a:buChar char="▸"/>
            </a:pPr>
            <a:r>
              <a:rPr lang="en-US" sz="1200">
                <a:solidFill>
                  <a:schemeClr val="lt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rPr>
              <a:t>Implement early stopping within BERT model, which stops training when the validation performance stops improving.</a:t>
            </a:r>
            <a:endParaRPr sz="1200">
              <a:solidFill>
                <a:schemeClr val="lt1"/>
              </a:solidFill>
              <a:latin typeface="Encode Sans Semi Condensed Light"/>
              <a:ea typeface="Encode Sans Semi Condensed Light"/>
              <a:cs typeface="Encode Sans Semi Condensed Light"/>
              <a:sym typeface="Encode Sans Semi Condensed Light"/>
            </a:endParaRPr>
          </a:p>
          <a:p>
            <a:pPr indent="-171450" lvl="0" marL="17145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Encode Sans Semi Condensed Light"/>
              <a:buChar char="▸"/>
            </a:pPr>
            <a:r>
              <a:rPr b="0" i="0" lang="en-US" sz="1200" u="none" cap="none" strike="noStrike">
                <a:solidFill>
                  <a:schemeClr val="lt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rPr>
              <a:t>Deploy the final model as a tool for literature discovery.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"/>
          <p:cNvSpPr/>
          <p:nvPr/>
        </p:nvSpPr>
        <p:spPr>
          <a:xfrm>
            <a:off x="7150" y="1638850"/>
            <a:ext cx="9144000" cy="3504600"/>
          </a:xfrm>
          <a:prstGeom prst="rect">
            <a:avLst/>
          </a:prstGeom>
          <a:solidFill>
            <a:srgbClr val="001033">
              <a:alpha val="3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3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" name="Google Shape;219;p13"/>
          <p:cNvSpPr txBox="1"/>
          <p:nvPr>
            <p:ph idx="4294967295" type="ctrTitle"/>
          </p:nvPr>
        </p:nvSpPr>
        <p:spPr>
          <a:xfrm>
            <a:off x="1194605" y="1800750"/>
            <a:ext cx="6593700" cy="7710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be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rPr>
              <a:t>Thanks!</a:t>
            </a:r>
            <a:endParaRPr b="1" i="0" sz="3600" u="none" cap="none" strike="noStrike">
              <a:solidFill>
                <a:schemeClr val="lt1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220" name="Google Shape;220;p13"/>
          <p:cNvSpPr txBox="1"/>
          <p:nvPr>
            <p:ph idx="4294967295" type="subTitle"/>
          </p:nvPr>
        </p:nvSpPr>
        <p:spPr>
          <a:xfrm>
            <a:off x="1194605" y="2396836"/>
            <a:ext cx="6593700" cy="1080797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Encode Sans Semi Condensed Light"/>
              <a:buNone/>
            </a:pPr>
            <a:r>
              <a:rPr b="0" i="0" lang="en-US" sz="1800" u="none" cap="none" strike="noStrike">
                <a:solidFill>
                  <a:schemeClr val="accent6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rPr>
              <a:t>Any questions?</a:t>
            </a:r>
            <a:endParaRPr b="0" i="0" sz="1800" u="none" cap="none" strike="noStrike">
              <a:solidFill>
                <a:schemeClr val="accent6"/>
              </a:solidFill>
              <a:latin typeface="Encode Sans Semi Condensed SemiBold"/>
              <a:ea typeface="Encode Sans Semi Condensed SemiBold"/>
              <a:cs typeface="Encode Sans Semi Condensed SemiBold"/>
              <a:sym typeface="Encode Sans Semi Condensed SemiBol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rPr>
              <a:t>You can find me at</a:t>
            </a:r>
            <a:endParaRPr b="0" i="0" sz="1800" u="none" cap="none" strike="noStrike">
              <a:solidFill>
                <a:schemeClr val="lt1"/>
              </a:solidFill>
              <a:latin typeface="Encode Sans Semi Condensed Light"/>
              <a:ea typeface="Encode Sans Semi Condensed Light"/>
              <a:cs typeface="Encode Sans Semi Condensed Light"/>
              <a:sym typeface="Encode Sans Semi Condensed Ligh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rPr>
              <a:t>920146978@student.ccga.edu</a:t>
            </a:r>
            <a:endParaRPr b="1" i="0" sz="1800" u="none" cap="none" strike="noStrike">
              <a:solidFill>
                <a:schemeClr val="lt1"/>
              </a:solidFill>
              <a:latin typeface="Encode Sans Semi Condensed Light"/>
              <a:ea typeface="Encode Sans Semi Condensed Light"/>
              <a:cs typeface="Encode Sans Semi Condensed Light"/>
              <a:sym typeface="Encode Sans Semi Condensed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"/>
          <p:cNvSpPr txBox="1"/>
          <p:nvPr>
            <p:ph type="title"/>
          </p:nvPr>
        </p:nvSpPr>
        <p:spPr>
          <a:xfrm>
            <a:off x="514800" y="809150"/>
            <a:ext cx="6373800" cy="6651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Credits</a:t>
            </a:r>
            <a:endParaRPr/>
          </a:p>
        </p:txBody>
      </p:sp>
      <p:sp>
        <p:nvSpPr>
          <p:cNvPr id="226" name="Google Shape;226;p14"/>
          <p:cNvSpPr txBox="1"/>
          <p:nvPr>
            <p:ph idx="1" type="body"/>
          </p:nvPr>
        </p:nvSpPr>
        <p:spPr>
          <a:xfrm>
            <a:off x="175491" y="1542472"/>
            <a:ext cx="8777593" cy="2930199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-US" sz="2200"/>
              <a:t>Special thanks to all the people who made and released these awesome resources for free: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200"/>
              <a:buChar char="▸"/>
            </a:pPr>
            <a:r>
              <a:rPr lang="en-US" sz="2200"/>
              <a:t>Kaggle Dataset </a:t>
            </a:r>
            <a:r>
              <a:rPr lang="en-US" sz="2200" u="sng">
                <a:solidFill>
                  <a:schemeClr val="hlink"/>
                </a:solidFill>
                <a:hlinkClick r:id="rId3"/>
              </a:rPr>
              <a:t>here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200"/>
              <a:buChar char="▸"/>
            </a:pPr>
            <a:r>
              <a:rPr lang="en-US" sz="2200"/>
              <a:t>Presentation template by </a:t>
            </a:r>
            <a:r>
              <a:rPr lang="en-US" sz="2200" u="sng">
                <a:solidFill>
                  <a:schemeClr val="hlink"/>
                </a:solidFill>
                <a:hlinkClick r:id="rId4"/>
              </a:rPr>
              <a:t>SlidesCarnival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▸"/>
            </a:pPr>
            <a:r>
              <a:rPr lang="en-US" sz="2200"/>
              <a:t>Photographs by </a:t>
            </a:r>
            <a:r>
              <a:rPr lang="en-US" sz="2200" u="sng">
                <a:solidFill>
                  <a:schemeClr val="hlink"/>
                </a:solidFill>
                <a:hlinkClick r:id="rId5"/>
              </a:rPr>
              <a:t>Unsplash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▸"/>
            </a:pPr>
            <a:r>
              <a:rPr lang="en-US" sz="2200" u="sng">
                <a:solidFill>
                  <a:schemeClr val="hlink"/>
                </a:solidFill>
                <a:hlinkClick r:id="rId6"/>
              </a:rPr>
              <a:t>COVID-19 virus image</a:t>
            </a:r>
            <a:r>
              <a:rPr lang="en-US" sz="2200"/>
              <a:t> from CDC by Alissa Eckert &amp; Dan Higgins · Public domain and thus free of any copyright restrictions</a:t>
            </a:r>
            <a:endParaRPr sz="2200"/>
          </a:p>
        </p:txBody>
      </p:sp>
      <p:sp>
        <p:nvSpPr>
          <p:cNvPr id="227" name="Google Shape;227;p14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9525">
              <a:schemeClr val="dk1">
                <a:alpha val="14901"/>
              </a:scheme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ndarus template">
  <a:themeElements>
    <a:clrScheme name="Custom 347">
      <a:dk1>
        <a:srgbClr val="001033"/>
      </a:dk1>
      <a:lt1>
        <a:srgbClr val="FFFFFF"/>
      </a:lt1>
      <a:dk2>
        <a:srgbClr val="5E636F"/>
      </a:dk2>
      <a:lt2>
        <a:srgbClr val="DEE3EB"/>
      </a:lt2>
      <a:accent1>
        <a:srgbClr val="05356E"/>
      </a:accent1>
      <a:accent2>
        <a:srgbClr val="0455A4"/>
      </a:accent2>
      <a:accent3>
        <a:srgbClr val="0679D6"/>
      </a:accent3>
      <a:accent4>
        <a:srgbClr val="098CF2"/>
      </a:accent4>
      <a:accent5>
        <a:srgbClr val="50C0ED"/>
      </a:accent5>
      <a:accent6>
        <a:srgbClr val="7BE4F7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Noah English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f1136d8-3a4b-429c-86a0-829c94ed2265_Enabled">
    <vt:lpwstr>true</vt:lpwstr>
  </property>
  <property fmtid="{D5CDD505-2E9C-101B-9397-08002B2CF9AE}" pid="3" name="MSIP_Label_3f1136d8-3a4b-429c-86a0-829c94ed2265_SetDate">
    <vt:lpwstr>2025-10-28T16:03:20Z</vt:lpwstr>
  </property>
  <property fmtid="{D5CDD505-2E9C-101B-9397-08002B2CF9AE}" pid="4" name="MSIP_Label_3f1136d8-3a4b-429c-86a0-829c94ed2265_Method">
    <vt:lpwstr>Standard</vt:lpwstr>
  </property>
  <property fmtid="{D5CDD505-2E9C-101B-9397-08002B2CF9AE}" pid="5" name="MSIP_Label_3f1136d8-3a4b-429c-86a0-829c94ed2265_Name">
    <vt:lpwstr>Personal</vt:lpwstr>
  </property>
  <property fmtid="{D5CDD505-2E9C-101B-9397-08002B2CF9AE}" pid="6" name="MSIP_Label_3f1136d8-3a4b-429c-86a0-829c94ed2265_SiteId">
    <vt:lpwstr>14b4890e-b489-46b3-b138-2861452d0d92</vt:lpwstr>
  </property>
  <property fmtid="{D5CDD505-2E9C-101B-9397-08002B2CF9AE}" pid="7" name="MSIP_Label_3f1136d8-3a4b-429c-86a0-829c94ed2265_ActionId">
    <vt:lpwstr>e5ffebfc-3197-408a-b0c7-26f1e5936700</vt:lpwstr>
  </property>
  <property fmtid="{D5CDD505-2E9C-101B-9397-08002B2CF9AE}" pid="8" name="MSIP_Label_3f1136d8-3a4b-429c-86a0-829c94ed2265_ContentBits">
    <vt:lpwstr>0</vt:lpwstr>
  </property>
  <property fmtid="{D5CDD505-2E9C-101B-9397-08002B2CF9AE}" pid="9" name="MSIP_Label_3f1136d8-3a4b-429c-86a0-829c94ed2265_Tag">
    <vt:lpwstr>10, 3, 0, 1</vt:lpwstr>
  </property>
</Properties>
</file>